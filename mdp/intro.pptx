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72" r:id="rId2"/>
    <p:sldId id="373" r:id="rId3"/>
    <p:sldId id="380" r:id="rId4"/>
    <p:sldId id="381" r:id="rId5"/>
    <p:sldId id="384" r:id="rId6"/>
    <p:sldId id="385" r:id="rId7"/>
    <p:sldId id="386" r:id="rId8"/>
    <p:sldId id="387" r:id="rId9"/>
    <p:sldId id="405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410" r:id="rId19"/>
    <p:sldId id="396" r:id="rId20"/>
    <p:sldId id="397" r:id="rId21"/>
    <p:sldId id="398" r:id="rId22"/>
    <p:sldId id="407" r:id="rId23"/>
    <p:sldId id="401" r:id="rId24"/>
    <p:sldId id="400" r:id="rId25"/>
    <p:sldId id="403" r:id="rId26"/>
    <p:sldId id="404" r:id="rId27"/>
    <p:sldId id="379" r:id="rId28"/>
    <p:sldId id="406" r:id="rId29"/>
    <p:sldId id="378" r:id="rId30"/>
    <p:sldId id="409" r:id="rId31"/>
  </p:sldIdLst>
  <p:sldSz cx="9144000" cy="6858000" type="screen4x3"/>
  <p:notesSz cx="7099300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6400" autoAdjust="0"/>
  </p:normalViewPr>
  <p:slideViewPr>
    <p:cSldViewPr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2AFEF7D-0F5B-46FE-955A-E9DFAFCB90C1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509356-DC20-4289-9B8A-92ECC85530A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E032C-4CEE-4FFE-8AD2-B18CFD5B773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E9756A-A3B0-4144-9C5D-6DCAC385D1EB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28576E-E15A-4943-9240-94DB0884FB9F}" type="slidenum">
              <a:rPr lang="en-US" altLang="ja-JP"/>
              <a:pPr/>
              <a:t>3</a:t>
            </a:fld>
            <a:endParaRPr lang="en-US" altLang="ja-JP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1DC22F-F249-43DA-B777-2AE719F8E9A8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896B0A-68D0-4D38-99EC-63B81547C84F}" type="slidenum">
              <a:rPr lang="en-US" altLang="ja-JP"/>
              <a:pPr/>
              <a:t>5</a:t>
            </a:fld>
            <a:endParaRPr lang="en-US" altLang="ja-JP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D0A214-11E5-4076-80E2-80287AF3B656}" type="slidenum">
              <a:rPr lang="en-US" altLang="ja-JP"/>
              <a:pPr/>
              <a:t>6</a:t>
            </a:fld>
            <a:endParaRPr lang="en-US" altLang="ja-JP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9D65F-4833-4483-9E6D-5414A46FCBDD}" type="slidenum">
              <a:rPr lang="en-US" altLang="ja-JP"/>
              <a:pPr/>
              <a:t>7</a:t>
            </a:fld>
            <a:endParaRPr lang="en-US" altLang="ja-JP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ED4285-FEC1-4B52-A769-6F3FE70EBA84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B0CF3-E1D3-4237-B57E-FB951B026EC9}" type="slidenum">
              <a:rPr lang="en-US" altLang="ja-JP"/>
              <a:pPr/>
              <a:t>9</a:t>
            </a:fld>
            <a:endParaRPr lang="en-US" altLang="ja-JP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317CA9-25B6-4ACC-9EFE-7A400252F31E}" type="slidenum">
              <a:rPr lang="en-US" altLang="ja-JP"/>
              <a:pPr/>
              <a:t>10</a:t>
            </a:fld>
            <a:endParaRPr lang="en-US" altLang="ja-JP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EA2EC-E878-4458-AEC7-428B87E44292}" type="slidenum">
              <a:rPr lang="en-US" altLang="ja-JP"/>
              <a:pPr/>
              <a:t>11</a:t>
            </a:fld>
            <a:endParaRPr lang="en-US" altLang="ja-JP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D9BC8E-AC39-4F40-ABAE-032731AC3F1A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4ED997-16DA-478E-AD01-7AF165A5EB1B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D1E8DB-D08E-47FF-9206-2582C0B8EA0B}" type="slidenum">
              <a:rPr lang="en-US" altLang="ja-JP"/>
              <a:pPr/>
              <a:t>14</a:t>
            </a:fld>
            <a:endParaRPr lang="en-US" altLang="ja-JP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29499-BB4E-4018-A698-6C4B09F3B3E0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BD68A0-6033-4048-B2A7-26CF72BCC8B1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473E08-FA62-4C38-AD7B-6A7C7DB48280}" type="slidenum">
              <a:rPr lang="en-US" altLang="ja-JP"/>
              <a:pPr/>
              <a:t>17</a:t>
            </a:fld>
            <a:endParaRPr lang="en-US" altLang="ja-JP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5162CF-F056-4D94-9D26-2D846AB9997A}" type="slidenum">
              <a:rPr lang="en-US" altLang="ja-JP"/>
              <a:pPr/>
              <a:t>19</a:t>
            </a:fld>
            <a:endParaRPr lang="en-US" altLang="ja-JP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7D137E-96C1-4716-976B-89EDD2376C68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5CBD92-FFD4-49A3-88D1-752996CE4058}" type="slidenum">
              <a:rPr lang="en-US" altLang="ja-JP"/>
              <a:pPr/>
              <a:t>21</a:t>
            </a:fld>
            <a:endParaRPr lang="en-US" altLang="ja-JP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B57762-38B7-45FD-9024-1B39A6D5F1EC}" type="slidenum">
              <a:rPr lang="en-US" altLang="ja-JP"/>
              <a:pPr/>
              <a:t>22</a:t>
            </a:fld>
            <a:endParaRPr lang="en-US" altLang="ja-JP"/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1C989A-CA84-4179-8A98-237828A9AB61}" type="slidenum">
              <a:rPr lang="en-US" altLang="ja-JP"/>
              <a:pPr/>
              <a:t>23</a:t>
            </a:fld>
            <a:endParaRPr lang="en-US" altLang="ja-JP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047728-71E6-44AB-A450-A5BE288E91B0}" type="slidenum">
              <a:rPr lang="en-US" altLang="ja-JP"/>
              <a:pPr/>
              <a:t>24</a:t>
            </a:fld>
            <a:endParaRPr lang="en-US" altLang="ja-JP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ECA223-09DA-4B36-9BCA-0C0778AE0008}" type="slidenum">
              <a:rPr lang="en-US" altLang="ja-JP"/>
              <a:pPr/>
              <a:t>25</a:t>
            </a:fld>
            <a:endParaRPr lang="en-US" altLang="ja-JP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C23D59-46DB-4A6B-9753-C421578CA53E}" type="slidenum">
              <a:rPr lang="en-US" altLang="ja-JP"/>
              <a:pPr/>
              <a:t>26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AB5CF8-37F5-4BB3-BC4B-FD6C9C598725}" type="slidenum">
              <a:rPr lang="en-US" altLang="ja-JP"/>
              <a:pPr/>
              <a:t>27</a:t>
            </a:fld>
            <a:endParaRPr lang="en-US" altLang="ja-JP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7B9CE-F43F-4A1C-9578-C2F73ED36738}" type="slidenum">
              <a:rPr lang="en-US" altLang="ja-JP"/>
              <a:pPr/>
              <a:t>28</a:t>
            </a:fld>
            <a:endParaRPr lang="en-US" altLang="ja-JP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D4D90F-07C4-4CC9-8326-BA39317E0662}" type="slidenum">
              <a:rPr lang="en-US" altLang="ja-JP"/>
              <a:pPr/>
              <a:t>29</a:t>
            </a:fld>
            <a:endParaRPr lang="en-US" altLang="ja-JP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A335B8-B425-4507-892A-415FFCF352B7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3A431-F0A2-4498-9B99-4E316DD858D8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01A7-30CC-4244-AC1D-4432D3BFFCB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85F60D-2276-432A-93AB-23E94F04B369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A245-9887-4288-A9BE-B8A98211D94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EDCD0-E185-4EC4-AA40-082972A8A140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AC4D-28B7-4772-B0F9-0A7907DC5E0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9A962F-ACFD-4695-9304-106CB12203C2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C234A-A3A4-44F6-A9E2-108939E62A7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0D961-CD92-47CD-8898-7EFAC029528E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7E917-639C-483B-BB32-1C5372995AE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CAC3F-40B7-4528-B482-CE15BB4749F6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32019-5BB1-42DC-BF77-A4FE45D4194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F6821D-A4AB-44FC-830E-A1899477DDC7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D885-00FC-4496-9747-38E4A6CB360F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0BD9A7-EDB6-4CAE-B7C1-E16333911A59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2095B-1B3A-4C44-B884-3F0FC938F142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2FABC-B5B1-4313-9016-AFE01A263470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04A78-9F6E-4CF8-B217-7BE16E509444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52B8F-3663-4897-88A7-A614EF028406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C968-20D1-4E97-A7BC-79708718D6C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92838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92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A9E36-8EA1-4C07-9DC4-76E232F66690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D0640-34DB-4649-B51C-865C7FE249D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D3BBCD6A-E7DD-44D8-A45D-D5A2D3D8CA2E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72133AB-CA0D-4CCD-8A69-49BCD064CB69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概要説明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メディアデザイン演習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8057-F23A-42B1-9A3F-89165735BB08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演習内容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コンテンツ制作の体験的実習</a:t>
            </a:r>
          </a:p>
          <a:p>
            <a:pPr lvl="1"/>
            <a:r>
              <a:rPr lang="en-US" altLang="ja-JP"/>
              <a:t>3</a:t>
            </a:r>
            <a:r>
              <a:rPr lang="ja-JP" altLang="en-US"/>
              <a:t>次元</a:t>
            </a:r>
            <a:r>
              <a:rPr lang="en-US" altLang="ja-JP"/>
              <a:t>CG</a:t>
            </a:r>
            <a:r>
              <a:rPr lang="ja-JP" altLang="en-US"/>
              <a:t>ムービー制作</a:t>
            </a:r>
          </a:p>
          <a:p>
            <a:pPr lvl="1"/>
            <a:r>
              <a:rPr lang="ja-JP" altLang="en-US"/>
              <a:t>ビデオ編集</a:t>
            </a:r>
          </a:p>
          <a:p>
            <a:pPr lvl="1"/>
            <a:r>
              <a:rPr lang="ja-JP" altLang="en-US"/>
              <a:t>インタラクティブコンテンツ制作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23DB-87E6-43E0-B0EC-2DB802AE27CB}" type="slidenum">
              <a:rPr lang="en-US" altLang="ja-JP"/>
              <a:pPr/>
              <a:t>3</a:t>
            </a:fld>
            <a:endParaRPr lang="en-US" altLang="ja-JP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「作品」制作実習の意義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専門的技術の習得が目的ではない</a:t>
            </a:r>
          </a:p>
          <a:p>
            <a:pPr lvl="1"/>
            <a:r>
              <a:rPr lang="ja-JP" altLang="en-US"/>
              <a:t>この程度のことができても「趣味」にしかならない</a:t>
            </a:r>
          </a:p>
          <a:p>
            <a:pPr lvl="1"/>
            <a:r>
              <a:rPr lang="ja-JP" altLang="en-US"/>
              <a:t>ソフトの使い方は３ヶ月もあれば覚えられる</a:t>
            </a:r>
          </a:p>
          <a:p>
            <a:r>
              <a:rPr lang="ja-JP" altLang="en-US"/>
              <a:t>「作品を制作する」という経験が重要</a:t>
            </a:r>
          </a:p>
          <a:p>
            <a:pPr lvl="1"/>
            <a:r>
              <a:rPr lang="ja-JP" altLang="en-US"/>
              <a:t>ソフトの使い方を知っていても「作品」が作れない</a:t>
            </a:r>
          </a:p>
          <a:p>
            <a:pPr lvl="1"/>
            <a:r>
              <a:rPr lang="ja-JP" altLang="en-US"/>
              <a:t>自己満足的な落書きからの脱却を目指す</a:t>
            </a:r>
          </a:p>
          <a:p>
            <a:pPr lvl="2"/>
            <a:r>
              <a:rPr lang="ja-JP" altLang="en-US"/>
              <a:t>自分好みのデザインをする人をデザイナとは言わない</a:t>
            </a:r>
          </a:p>
          <a:p>
            <a:r>
              <a:rPr lang="ja-JP" altLang="en-US"/>
              <a:t>企画（設計などの上流工程）の重要性を知る</a:t>
            </a:r>
          </a:p>
          <a:p>
            <a:r>
              <a:rPr kumimoji="0" lang="ja-JP" altLang="en-US"/>
              <a:t>コンテンツ制作系求人への対応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52841-962E-47F1-9FF7-26F405D7EC4E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コンテンツ制作系求人の特徴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履歴書のほかに「作品」が要求される</a:t>
            </a:r>
          </a:p>
          <a:p>
            <a:pPr lvl="1"/>
            <a:r>
              <a:rPr lang="ja-JP" altLang="en-US"/>
              <a:t>学校を卒業したというだけでは訴求力が無い</a:t>
            </a:r>
          </a:p>
          <a:p>
            <a:pPr lvl="1"/>
            <a:r>
              <a:rPr lang="ja-JP" altLang="en-US"/>
              <a:t>実力を証明しなければ採用されない</a:t>
            </a:r>
          </a:p>
          <a:p>
            <a:pPr lvl="1"/>
            <a:r>
              <a:rPr lang="ja-JP" altLang="en-US"/>
              <a:t>コンテスト等の受賞実績は有効</a:t>
            </a:r>
          </a:p>
          <a:p>
            <a:r>
              <a:rPr lang="ja-JP" altLang="en-US"/>
              <a:t>新卒採用は非常に少ない</a:t>
            </a:r>
          </a:p>
          <a:p>
            <a:pPr lvl="1"/>
            <a:r>
              <a:rPr lang="ja-JP" altLang="en-US"/>
              <a:t>小規模な企業が多く自社教育の余力が無い</a:t>
            </a:r>
          </a:p>
          <a:p>
            <a:pPr lvl="1"/>
            <a:r>
              <a:rPr lang="ja-JP" altLang="en-US"/>
              <a:t>人材の流動が激しい</a:t>
            </a:r>
          </a:p>
          <a:p>
            <a:pPr lvl="1"/>
            <a:r>
              <a:rPr lang="ja-JP" altLang="en-US"/>
              <a:t>フリーで活躍している人もいる</a:t>
            </a:r>
          </a:p>
          <a:p>
            <a:r>
              <a:rPr lang="ja-JP" altLang="en-US"/>
              <a:t>「リクナビ」などではあまり見つからない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3809-7467-415C-A8E2-38B21F00C9F6}" type="slidenum">
              <a:rPr lang="en-US" altLang="ja-JP"/>
              <a:pPr/>
              <a:t>5</a:t>
            </a:fld>
            <a:endParaRPr lang="en-US" altLang="ja-JP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３次元ＣＧムービー制作を題材にした理由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２次元あるいは静止画のＣＧ制作</a:t>
            </a:r>
          </a:p>
          <a:p>
            <a:pPr lvl="1"/>
            <a:r>
              <a:rPr kumimoji="0" lang="ja-JP" altLang="en-US"/>
              <a:t>場当たり的にいじくっていても何かできる</a:t>
            </a:r>
          </a:p>
          <a:p>
            <a:r>
              <a:rPr kumimoji="0" lang="ja-JP" altLang="en-US"/>
              <a:t>３次元ＣＧムービー制作</a:t>
            </a:r>
          </a:p>
          <a:p>
            <a:pPr lvl="1"/>
            <a:r>
              <a:rPr kumimoji="0" lang="ja-JP" altLang="en-US"/>
              <a:t>場当たり的にやっても何もできないか破綻する</a:t>
            </a:r>
          </a:p>
          <a:p>
            <a:pPr lvl="2"/>
            <a:r>
              <a:rPr kumimoji="0" lang="ja-JP" altLang="en-US"/>
              <a:t>ソフトの使い方を知っていても「作品」を作れない原因</a:t>
            </a:r>
          </a:p>
          <a:p>
            <a:pPr lvl="1"/>
            <a:r>
              <a:rPr kumimoji="0" lang="ja-JP" altLang="en-US"/>
              <a:t>３次元ＣＧはムービーにしないと価値半減</a:t>
            </a:r>
          </a:p>
          <a:p>
            <a:pPr lvl="2"/>
            <a:r>
              <a:rPr kumimoji="0" lang="ja-JP" altLang="en-US"/>
              <a:t>２次元の物を描くのに立体のデータが必要？</a:t>
            </a:r>
          </a:p>
          <a:p>
            <a:pPr lvl="1"/>
            <a:r>
              <a:rPr kumimoji="0" lang="ja-JP" altLang="en-US"/>
              <a:t>３次元ＣＧムービーは「工業製品」，設計図必須</a:t>
            </a:r>
          </a:p>
          <a:p>
            <a:r>
              <a:rPr kumimoji="0" lang="ja-JP" altLang="en-US"/>
              <a:t>制作過程を一通り体験することが可能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090EA-46CF-451C-9401-46F7BA2D02F4}" type="slidenum">
              <a:rPr lang="en-US" altLang="ja-JP"/>
              <a:pPr/>
              <a:t>6</a:t>
            </a:fld>
            <a:endParaRPr lang="en-US" altLang="ja-JP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3DCG</a:t>
            </a:r>
            <a:r>
              <a:rPr lang="ja-JP" altLang="en-US"/>
              <a:t>ムービー制作時の注意点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オブジェクトはシンプルなものが無難</a:t>
            </a:r>
          </a:p>
          <a:p>
            <a:pPr lvl="1"/>
            <a:r>
              <a:rPr kumimoji="0" lang="ja-JP" altLang="en-US"/>
              <a:t>処理を軽くする・形の修正にハマるのを避ける</a:t>
            </a:r>
          </a:p>
          <a:p>
            <a:r>
              <a:rPr lang="ja-JP" altLang="en-US"/>
              <a:t>ライティングとカメラワークにはこだわろう</a:t>
            </a:r>
          </a:p>
          <a:p>
            <a:pPr lvl="1"/>
            <a:r>
              <a:rPr kumimoji="0" lang="ja-JP" altLang="en-US"/>
              <a:t>複数の光源を効果的に組み合わせよう</a:t>
            </a:r>
          </a:p>
          <a:p>
            <a:pPr lvl="1"/>
            <a:r>
              <a:rPr kumimoji="0" lang="ja-JP" altLang="en-US"/>
              <a:t>演習であっても見る人を意識した絵作りを</a:t>
            </a:r>
          </a:p>
          <a:p>
            <a:r>
              <a:rPr kumimoji="0" lang="ja-JP" altLang="en-US"/>
              <a:t>ホームディレクトリの容量に気をつけること</a:t>
            </a:r>
          </a:p>
          <a:p>
            <a:pPr lvl="1"/>
            <a:r>
              <a:rPr kumimoji="0" lang="ja-JP" altLang="en-US"/>
              <a:t>上限は</a:t>
            </a:r>
            <a:r>
              <a:rPr kumimoji="0" lang="en-US" altLang="ja-JP"/>
              <a:t>1GB</a:t>
            </a:r>
          </a:p>
          <a:p>
            <a:pPr lvl="1"/>
            <a:r>
              <a:rPr kumimoji="0" lang="ja-JP" altLang="en-US"/>
              <a:t>非圧縮ムービーなら１秒で約</a:t>
            </a:r>
            <a:r>
              <a:rPr kumimoji="0" lang="en-US" altLang="ja-JP"/>
              <a:t>27MB</a:t>
            </a:r>
          </a:p>
          <a:p>
            <a:pPr lvl="1"/>
            <a:r>
              <a:rPr kumimoji="0" lang="ja-JP" altLang="en-US"/>
              <a:t>必要なら</a:t>
            </a:r>
            <a:r>
              <a:rPr kumimoji="0" lang="en-US" altLang="ja-JP"/>
              <a:t>USB</a:t>
            </a:r>
            <a:r>
              <a:rPr kumimoji="0" lang="ja-JP" altLang="en-US"/>
              <a:t>メモリ・</a:t>
            </a:r>
            <a:r>
              <a:rPr kumimoji="0" lang="en-US" altLang="ja-JP"/>
              <a:t>DVD-RW</a:t>
            </a:r>
            <a:r>
              <a:rPr kumimoji="0" lang="ja-JP" altLang="en-US"/>
              <a:t>等を用意すること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ja-JP" altLang="en-US"/>
              <a:t>清涼飲料水の１５秒</a:t>
            </a:r>
            <a:r>
              <a:rPr kumimoji="0" lang="en-US" altLang="ja-JP"/>
              <a:t>CM</a:t>
            </a:r>
            <a:r>
              <a:rPr kumimoji="0" lang="ja-JP" altLang="en-US"/>
              <a:t>の制作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kumimoji="0" lang="ja-JP" altLang="ja-J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21EB9-B6F0-4107-820F-082EB28DEFFC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/>
              <a:t>テーマについて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対象は清涼飲料水以外でも可</a:t>
            </a:r>
          </a:p>
          <a:p>
            <a:pPr lvl="1"/>
            <a:r>
              <a:rPr lang="ja-JP" altLang="en-US"/>
              <a:t>自動車，家具，電化製品等の「商品」でも可</a:t>
            </a:r>
          </a:p>
          <a:p>
            <a:pPr lvl="2"/>
            <a:r>
              <a:rPr lang="ja-JP" altLang="en-US"/>
              <a:t>ただし自分が作成可能なものであること</a:t>
            </a:r>
          </a:p>
          <a:p>
            <a:r>
              <a:rPr lang="ja-JP" altLang="en-US"/>
              <a:t>１５秒ＣＭであること</a:t>
            </a:r>
          </a:p>
          <a:p>
            <a:pPr lvl="1"/>
            <a:r>
              <a:rPr lang="ja-JP" altLang="en-US"/>
              <a:t>必ずロゴを入れること</a:t>
            </a:r>
          </a:p>
          <a:p>
            <a:pPr lvl="2"/>
            <a:r>
              <a:rPr lang="ja-JP" altLang="en-US"/>
              <a:t>編集時に挿入しても可</a:t>
            </a:r>
          </a:p>
          <a:p>
            <a:pPr lvl="1"/>
            <a:r>
              <a:rPr lang="ja-JP" altLang="en-US"/>
              <a:t>あまり複雑なものを作らないように</a:t>
            </a:r>
          </a:p>
          <a:p>
            <a:pPr lvl="2"/>
            <a:r>
              <a:rPr lang="ja-JP" altLang="en-US"/>
              <a:t>期限に間に合わなくなる可能性がある</a:t>
            </a:r>
          </a:p>
          <a:p>
            <a:pPr lvl="2"/>
            <a:r>
              <a:rPr lang="ja-JP" altLang="en-US"/>
              <a:t>液体の表現なんかには高度なテクニックが必要である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077D-D93C-4672-B84A-DCC493C3D33A}" type="slidenum">
              <a:rPr lang="en-US" altLang="ja-JP"/>
              <a:pPr/>
              <a:t>9</a:t>
            </a:fld>
            <a:endParaRPr lang="en-US" altLang="ja-JP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コンテンツ制作のステップ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ja-JP" altLang="en-US" sz="2800"/>
              <a:t>プリプロダクション</a:t>
            </a:r>
          </a:p>
          <a:p>
            <a:pPr lvl="1">
              <a:lnSpc>
                <a:spcPct val="80000"/>
              </a:lnSpc>
            </a:pPr>
            <a:r>
              <a:rPr lang="ja-JP" altLang="en-US" sz="2400"/>
              <a:t>企画</a:t>
            </a:r>
          </a:p>
          <a:p>
            <a:pPr lvl="2">
              <a:lnSpc>
                <a:spcPct val="80000"/>
              </a:lnSpc>
            </a:pPr>
            <a:r>
              <a:rPr lang="ja-JP" altLang="en-US" sz="2000"/>
              <a:t>コンセプト立案，シナリオ執筆</a:t>
            </a:r>
          </a:p>
          <a:p>
            <a:pPr lvl="2">
              <a:lnSpc>
                <a:spcPct val="80000"/>
              </a:lnSpc>
            </a:pPr>
            <a:r>
              <a:rPr lang="ja-JP" altLang="en-US" sz="2000"/>
              <a:t>絵コンテ・パーツリスト・アートボード（エスキース）作成</a:t>
            </a:r>
          </a:p>
          <a:p>
            <a:pPr>
              <a:lnSpc>
                <a:spcPct val="80000"/>
              </a:lnSpc>
            </a:pPr>
            <a:r>
              <a:rPr lang="ja-JP" altLang="en-US" sz="2800"/>
              <a:t>プロダクション</a:t>
            </a:r>
          </a:p>
          <a:p>
            <a:pPr lvl="1">
              <a:lnSpc>
                <a:spcPct val="80000"/>
              </a:lnSpc>
            </a:pPr>
            <a:r>
              <a:rPr lang="ja-JP" altLang="en-US" sz="2400"/>
              <a:t>モデリング</a:t>
            </a:r>
          </a:p>
          <a:p>
            <a:pPr lvl="2">
              <a:lnSpc>
                <a:spcPct val="80000"/>
              </a:lnSpc>
            </a:pPr>
            <a:r>
              <a:rPr kumimoji="0" lang="ja-JP" altLang="en-US" sz="2000"/>
              <a:t>オブジェクト作成，テクスチャ作成</a:t>
            </a:r>
          </a:p>
          <a:p>
            <a:pPr lvl="1">
              <a:lnSpc>
                <a:spcPct val="80000"/>
              </a:lnSpc>
            </a:pPr>
            <a:r>
              <a:rPr kumimoji="0" lang="ja-JP" altLang="en-US" sz="2400"/>
              <a:t>レンダリング</a:t>
            </a:r>
          </a:p>
          <a:p>
            <a:pPr lvl="2">
              <a:lnSpc>
                <a:spcPct val="80000"/>
              </a:lnSpc>
            </a:pPr>
            <a:r>
              <a:rPr kumimoji="0" lang="ja-JP" altLang="en-US" sz="2000"/>
              <a:t>オブジェクト配置，マテリアル設定，アニメーション指定，レンダリング</a:t>
            </a:r>
          </a:p>
          <a:p>
            <a:pPr>
              <a:lnSpc>
                <a:spcPct val="80000"/>
              </a:lnSpc>
            </a:pPr>
            <a:r>
              <a:rPr kumimoji="0" lang="ja-JP" altLang="en-US" sz="2800"/>
              <a:t>ポストプロダクション</a:t>
            </a:r>
          </a:p>
          <a:p>
            <a:pPr lvl="1">
              <a:lnSpc>
                <a:spcPct val="80000"/>
              </a:lnSpc>
            </a:pPr>
            <a:r>
              <a:rPr kumimoji="0" lang="ja-JP" altLang="en-US" sz="2400"/>
              <a:t>編集</a:t>
            </a:r>
          </a:p>
          <a:p>
            <a:pPr lvl="2">
              <a:lnSpc>
                <a:spcPct val="80000"/>
              </a:lnSpc>
            </a:pPr>
            <a:r>
              <a:rPr kumimoji="0" lang="en-US" altLang="ja-JP" sz="2000"/>
              <a:t>Premier </a:t>
            </a:r>
            <a:r>
              <a:rPr kumimoji="0" lang="ja-JP" altLang="en-US" sz="2000"/>
              <a:t>によるムービーファイルの編集</a:t>
            </a:r>
          </a:p>
          <a:p>
            <a:pPr lvl="1">
              <a:lnSpc>
                <a:spcPct val="80000"/>
              </a:lnSpc>
            </a:pPr>
            <a:r>
              <a:rPr kumimoji="0" lang="ja-JP" altLang="en-US" sz="2400"/>
              <a:t>オーサリング</a:t>
            </a:r>
          </a:p>
          <a:p>
            <a:pPr lvl="2">
              <a:lnSpc>
                <a:spcPct val="80000"/>
              </a:lnSpc>
            </a:pPr>
            <a:r>
              <a:rPr kumimoji="0" lang="en-US" altLang="ja-JP" sz="2000"/>
              <a:t>Flash </a:t>
            </a:r>
            <a:r>
              <a:rPr kumimoji="0" lang="ja-JP" altLang="en-US" sz="2000"/>
              <a:t>によるインタラクティブコンテンツ制作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プリプロダクション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2646-48E1-4EA6-819A-7C7C974D93A8}" type="slidenum">
              <a:rPr lang="en-US" altLang="ja-JP"/>
              <a:pPr/>
              <a:t>11</a:t>
            </a:fld>
            <a:endParaRPr lang="en-US" altLang="ja-JP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企画のステップ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コンセプト立案</a:t>
            </a:r>
          </a:p>
          <a:p>
            <a:pPr lvl="1"/>
            <a:r>
              <a:rPr lang="ja-JP" altLang="en-US"/>
              <a:t>ターゲットとする飲料（コーヒー，紅茶，炭酸飲料，・・・）を決める</a:t>
            </a:r>
          </a:p>
          <a:p>
            <a:pPr lvl="1"/>
            <a:r>
              <a:rPr lang="ja-JP" altLang="en-US"/>
              <a:t>ターゲットの何を表現したいかなどを考える</a:t>
            </a:r>
          </a:p>
          <a:p>
            <a:r>
              <a:rPr lang="ja-JP" altLang="en-US"/>
              <a:t>シナリオ執筆</a:t>
            </a:r>
          </a:p>
          <a:p>
            <a:pPr lvl="1"/>
            <a:r>
              <a:rPr lang="ja-JP" altLang="en-US"/>
              <a:t>シナリオはムービーの設計図</a:t>
            </a:r>
          </a:p>
          <a:p>
            <a:pPr lvl="1"/>
            <a:r>
              <a:rPr kumimoji="0" lang="ja-JP" altLang="en-US"/>
              <a:t>作成しようと思う映像を言葉で説明する</a:t>
            </a:r>
          </a:p>
          <a:p>
            <a:pPr lvl="2"/>
            <a:r>
              <a:rPr kumimoji="0" lang="ja-JP" altLang="en-US"/>
              <a:t>箇条書き</a:t>
            </a:r>
          </a:p>
          <a:p>
            <a:r>
              <a:rPr lang="ja-JP" altLang="en-US"/>
              <a:t>絵コンテ作成</a:t>
            </a:r>
          </a:p>
          <a:p>
            <a:pPr lvl="1"/>
            <a:r>
              <a:rPr kumimoji="0" lang="ja-JP" altLang="en-US"/>
              <a:t>どのような映像を組み合わせて表現するか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66C0E-CD92-4187-959B-2C8B70E58233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コンセプト立案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ステップ１</a:t>
            </a:r>
          </a:p>
          <a:p>
            <a:pPr lvl="1"/>
            <a:r>
              <a:rPr lang="ja-JP" altLang="en-US"/>
              <a:t>ターゲットに関連したキーワードを列挙する</a:t>
            </a:r>
          </a:p>
          <a:p>
            <a:r>
              <a:rPr kumimoji="0" lang="ja-JP" altLang="en-US"/>
              <a:t>ステップ２</a:t>
            </a:r>
          </a:p>
          <a:p>
            <a:pPr lvl="1"/>
            <a:r>
              <a:rPr kumimoji="0" lang="ja-JP" altLang="en-US"/>
              <a:t>キーワードにランク付けする</a:t>
            </a:r>
          </a:p>
          <a:p>
            <a:r>
              <a:rPr kumimoji="0" lang="ja-JP" altLang="en-US"/>
              <a:t>ステップ３</a:t>
            </a:r>
          </a:p>
          <a:p>
            <a:pPr lvl="1"/>
            <a:r>
              <a:rPr kumimoji="0" lang="ja-JP" altLang="en-US"/>
              <a:t>キーワードをグループにまとめて階層化する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14C62-D86F-4097-A3CE-DDA1BC01E054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コンセプト立案：ステップ１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ja-JP"/>
              <a:t>Microsoft Word </a:t>
            </a:r>
            <a:r>
              <a:rPr lang="ja-JP" altLang="en-US"/>
              <a:t>を起動する</a:t>
            </a:r>
          </a:p>
          <a:p>
            <a:pPr marL="609600" indent="-609600">
              <a:buFontTx/>
              <a:buAutoNum type="arabicPeriod"/>
            </a:pPr>
            <a:r>
              <a:rPr lang="ja-JP" altLang="en-US"/>
              <a:t>アウトラインモードに切り替える</a:t>
            </a:r>
          </a:p>
          <a:p>
            <a:pPr marL="990600" lvl="1" indent="-533400"/>
            <a:r>
              <a:rPr lang="ja-JP" altLang="en-US"/>
              <a:t>「表示」メニュー→「アウトライン」</a:t>
            </a:r>
          </a:p>
          <a:p>
            <a:pPr marL="609600" indent="-609600">
              <a:buFontTx/>
              <a:buAutoNum type="arabicPeriod"/>
            </a:pPr>
            <a:r>
              <a:rPr lang="ja-JP" altLang="en-US"/>
              <a:t>思いつくキーワードを１行ごとに書く</a:t>
            </a:r>
          </a:p>
          <a:p>
            <a:pPr marL="990600" lvl="1" indent="-533400"/>
            <a:r>
              <a:rPr lang="en-US" altLang="ja-JP"/>
              <a:t>CM</a:t>
            </a:r>
            <a:r>
              <a:rPr lang="ja-JP" altLang="en-US"/>
              <a:t>で表現したい内容</a:t>
            </a:r>
          </a:p>
          <a:p>
            <a:pPr marL="990600" lvl="1" indent="-533400"/>
            <a:r>
              <a:rPr lang="ja-JP" altLang="en-US"/>
              <a:t>対象商品の特徴</a:t>
            </a:r>
          </a:p>
          <a:p>
            <a:pPr marL="990600" lvl="1" indent="-533400"/>
            <a:r>
              <a:rPr lang="ja-JP" altLang="en-US"/>
              <a:t>対象商品の周辺の情報（顧客，使用状況等）</a:t>
            </a:r>
          </a:p>
          <a:p>
            <a:pPr marL="990600" lvl="1" indent="-533400"/>
            <a:r>
              <a:rPr lang="ja-JP" altLang="en-US"/>
              <a:t>実現したい映像表現，</a:t>
            </a:r>
            <a:r>
              <a:rPr lang="en-US" altLang="ja-JP"/>
              <a:t>etc…</a:t>
            </a:r>
          </a:p>
          <a:p>
            <a:pPr marL="609600" indent="-609600">
              <a:buFontTx/>
              <a:buAutoNum type="arabicPeriod"/>
            </a:pPr>
            <a:r>
              <a:rPr lang="ja-JP" altLang="en-US"/>
              <a:t>できるだけたくさん書くこと（３０以上）</a:t>
            </a:r>
          </a:p>
          <a:p>
            <a:pPr marL="990600" lvl="1" indent="-533400">
              <a:buFontTx/>
              <a:buAutoNum type="arabicPeriod"/>
            </a:pPr>
            <a:endParaRPr lang="en-US" altLang="ja-JP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CE06-0699-4DB7-A930-8B1078BEDD64}" type="slidenum">
              <a:rPr lang="en-US" altLang="ja-JP"/>
              <a:pPr/>
              <a:t>14</a:t>
            </a:fld>
            <a:endParaRPr lang="en-US" altLang="ja-JP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コンセプト立案：ステップ２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AutoNum type="arabicPeriod"/>
            </a:pPr>
            <a:r>
              <a:rPr lang="ja-JP" altLang="en-US"/>
              <a:t>キーワードを</a:t>
            </a:r>
            <a:r>
              <a:rPr lang="en-US" altLang="ja-JP"/>
              <a:t>Tab</a:t>
            </a:r>
            <a:r>
              <a:rPr lang="ja-JP" altLang="en-US"/>
              <a:t>キーでランク付けする</a:t>
            </a:r>
          </a:p>
          <a:p>
            <a:pPr marL="990600" lvl="1" indent="-533400"/>
            <a:r>
              <a:rPr lang="ja-JP" altLang="en-US"/>
              <a:t>具体的な内容のキーワードほど右</a:t>
            </a:r>
          </a:p>
          <a:p>
            <a:pPr marL="1371600" lvl="2" indent="-457200"/>
            <a:r>
              <a:rPr lang="en-US" altLang="ja-JP"/>
              <a:t>Tab</a:t>
            </a:r>
            <a:r>
              <a:rPr lang="ja-JP" altLang="en-US"/>
              <a:t>キーをタイプすれば右による</a:t>
            </a:r>
          </a:p>
          <a:p>
            <a:pPr marL="990600" lvl="1" indent="-533400"/>
            <a:r>
              <a:rPr lang="ja-JP" altLang="en-US"/>
              <a:t>抽象度の高いキーワードほど左</a:t>
            </a:r>
          </a:p>
          <a:p>
            <a:pPr marL="1371600" lvl="2" indent="-457200"/>
            <a:r>
              <a:rPr lang="en-US" altLang="ja-JP"/>
              <a:t>Shift</a:t>
            </a:r>
            <a:r>
              <a:rPr lang="ja-JP" altLang="en-US"/>
              <a:t>を押しながら</a:t>
            </a:r>
            <a:r>
              <a:rPr lang="en-US" altLang="ja-JP"/>
              <a:t>Tab</a:t>
            </a:r>
            <a:r>
              <a:rPr lang="ja-JP" altLang="en-US"/>
              <a:t>キーをタイプすれば左に寄る</a:t>
            </a:r>
          </a:p>
          <a:p>
            <a:pPr marL="609600" indent="-609600">
              <a:buFontTx/>
              <a:buAutoNum type="arabicPeriod"/>
            </a:pPr>
            <a:r>
              <a:rPr lang="ja-JP" altLang="en-US"/>
              <a:t>左のキーワードを基準にグループ分けする</a:t>
            </a:r>
          </a:p>
          <a:p>
            <a:pPr marL="990600" lvl="1" indent="-533400"/>
            <a:r>
              <a:rPr kumimoji="0" lang="ja-JP" altLang="en-US"/>
              <a:t>左に寄せたキーワードを基準にする</a:t>
            </a:r>
          </a:p>
          <a:p>
            <a:pPr marL="990600" lvl="1" indent="-533400"/>
            <a:r>
              <a:rPr kumimoji="0" lang="ja-JP" altLang="en-US"/>
              <a:t>似通ったキーワードを集めていく</a:t>
            </a:r>
          </a:p>
          <a:p>
            <a:pPr marL="990600" lvl="1" indent="-533400"/>
            <a:r>
              <a:rPr kumimoji="0" lang="ja-JP" altLang="en-US"/>
              <a:t>マウスを使ってキーワードを移動する</a:t>
            </a:r>
            <a:endParaRPr lang="ja-JP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E870-C790-4191-A839-AA844B1C5F18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コンセプト立案：ステップ３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AutoNum type="arabicPeriod"/>
            </a:pPr>
            <a:r>
              <a:rPr lang="ja-JP" altLang="en-US"/>
              <a:t>キーワードのランクを調整する</a:t>
            </a:r>
          </a:p>
          <a:p>
            <a:pPr marL="990600" lvl="1" indent="-533400"/>
            <a:r>
              <a:rPr kumimoji="0" lang="en-US" altLang="ja-JP"/>
              <a:t>Tab</a:t>
            </a:r>
            <a:r>
              <a:rPr kumimoji="0" lang="ja-JP" altLang="en-US"/>
              <a:t>キーや</a:t>
            </a:r>
            <a:r>
              <a:rPr kumimoji="0" lang="en-US" altLang="ja-JP"/>
              <a:t>Shift+Tab</a:t>
            </a:r>
            <a:r>
              <a:rPr kumimoji="0" lang="ja-JP" altLang="en-US"/>
              <a:t>キーを使う</a:t>
            </a:r>
          </a:p>
          <a:p>
            <a:pPr marL="990600" lvl="1" indent="-533400"/>
            <a:r>
              <a:rPr kumimoji="0" lang="ja-JP" altLang="en-US"/>
              <a:t>上位のキーワードがないキーワードのグループ</a:t>
            </a:r>
          </a:p>
          <a:p>
            <a:pPr marL="1371600" lvl="2" indent="-457200"/>
            <a:r>
              <a:rPr kumimoji="0" lang="ja-JP" altLang="en-US"/>
              <a:t>それらを代表するような上位のキーワードを与える</a:t>
            </a:r>
          </a:p>
          <a:p>
            <a:pPr marL="609600" indent="-609600">
              <a:buFontTx/>
              <a:buAutoNum type="arabicPeriod"/>
            </a:pPr>
            <a:r>
              <a:rPr kumimoji="0" lang="ja-JP" altLang="en-US"/>
              <a:t>起承転結を考える</a:t>
            </a:r>
          </a:p>
          <a:p>
            <a:pPr marL="990600" lvl="1" indent="-533400"/>
            <a:r>
              <a:rPr kumimoji="0" lang="ja-JP" altLang="en-US"/>
              <a:t>左に寄せたキーワードを基準に並べ替える</a:t>
            </a:r>
          </a:p>
          <a:p>
            <a:pPr marL="990600" lvl="1" indent="-533400"/>
            <a:r>
              <a:rPr kumimoji="0" lang="ja-JP" altLang="en-US"/>
              <a:t>「起」「承」「転」「結」のそれぞれに題名を付ける</a:t>
            </a:r>
          </a:p>
          <a:p>
            <a:pPr marL="1371600" lvl="2" indent="-457200"/>
            <a:r>
              <a:rPr kumimoji="0" lang="ja-JP" altLang="en-US"/>
              <a:t>題名は内容を説明するものであること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46B08-2B32-49CA-AEF2-65ED71F1866B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シナリオ執筆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ステップ１</a:t>
            </a:r>
          </a:p>
          <a:p>
            <a:pPr lvl="1"/>
            <a:r>
              <a:rPr lang="ja-JP" altLang="en-US"/>
              <a:t>コンセプトをもとにシーン構成を決める</a:t>
            </a:r>
          </a:p>
          <a:p>
            <a:pPr lvl="1"/>
            <a:r>
              <a:rPr lang="ja-JP" altLang="en-US"/>
              <a:t>各シーンにタイトルを付ける</a:t>
            </a:r>
          </a:p>
          <a:p>
            <a:r>
              <a:rPr kumimoji="0" lang="ja-JP" altLang="en-US"/>
              <a:t>ステップ２</a:t>
            </a:r>
          </a:p>
          <a:p>
            <a:pPr lvl="1"/>
            <a:r>
              <a:rPr kumimoji="0" lang="ja-JP" altLang="en-US"/>
              <a:t>各シーンの具体的な内容を書く</a:t>
            </a:r>
          </a:p>
          <a:p>
            <a:r>
              <a:rPr kumimoji="0" lang="ja-JP" altLang="en-US"/>
              <a:t>ステップ３</a:t>
            </a:r>
          </a:p>
          <a:p>
            <a:pPr lvl="1"/>
            <a:r>
              <a:rPr kumimoji="0" lang="ja-JP" altLang="en-US"/>
              <a:t>シーンの内容をショットに分割する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38786-0FBB-48A6-AD95-5377322503F2}" type="slidenum">
              <a:rPr lang="en-US" altLang="ja-JP"/>
              <a:pPr/>
              <a:t>17</a:t>
            </a:fld>
            <a:endParaRPr lang="en-US" altLang="ja-JP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シーンとショット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ショット</a:t>
            </a:r>
          </a:p>
          <a:p>
            <a:pPr lvl="1"/>
            <a:r>
              <a:rPr kumimoji="0" lang="ja-JP" altLang="en-US"/>
              <a:t>カメラを回し始めてから止めるまで</a:t>
            </a:r>
          </a:p>
          <a:p>
            <a:pPr lvl="2"/>
            <a:r>
              <a:rPr kumimoji="0" lang="ja-JP" altLang="en-US"/>
              <a:t>カットとカットの間</a:t>
            </a:r>
          </a:p>
          <a:p>
            <a:pPr lvl="2"/>
            <a:r>
              <a:rPr kumimoji="0" lang="ja-JP" altLang="en-US"/>
              <a:t>１ショットは数秒～十数秒</a:t>
            </a:r>
          </a:p>
          <a:p>
            <a:pPr lvl="2"/>
            <a:r>
              <a:rPr kumimoji="0" lang="ja-JP" altLang="en-US"/>
              <a:t>ショット単位に「シーンファイル」を作る</a:t>
            </a:r>
          </a:p>
          <a:p>
            <a:r>
              <a:rPr lang="ja-JP" altLang="en-US"/>
              <a:t>シーン</a:t>
            </a:r>
          </a:p>
          <a:p>
            <a:pPr lvl="1"/>
            <a:r>
              <a:rPr lang="ja-JP" altLang="en-US"/>
              <a:t>意味のつながったひとまとまりの映像</a:t>
            </a:r>
          </a:p>
          <a:p>
            <a:pPr lvl="2"/>
            <a:r>
              <a:rPr lang="ja-JP" altLang="en-US"/>
              <a:t>対話シーンなら，話し始めから終わりまで</a:t>
            </a:r>
          </a:p>
          <a:p>
            <a:pPr lvl="2"/>
            <a:r>
              <a:rPr lang="ja-JP" altLang="en-US"/>
              <a:t>その間，話し手の映像（ショット）は次々切り替わる</a:t>
            </a:r>
          </a:p>
          <a:p>
            <a:pPr lvl="2"/>
            <a:r>
              <a:rPr lang="ja-JP" altLang="en-US"/>
              <a:t>シーン中のキャスト（登場人物やパーツ）はほぼ固定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42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B8BD0-402A-40E9-AE37-08477C9973EC}" type="slidenum">
              <a:rPr lang="en-US" altLang="ja-JP"/>
              <a:pPr/>
              <a:t>18</a:t>
            </a:fld>
            <a:endParaRPr lang="en-US" altLang="ja-JP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課題作品の構成例</a:t>
            </a:r>
          </a:p>
        </p:txBody>
      </p:sp>
      <p:sp>
        <p:nvSpPr>
          <p:cNvPr id="236594" name="Rectangle 50"/>
          <p:cNvSpPr>
            <a:spLocks noGrp="1" noChangeArrowheads="1"/>
          </p:cNvSpPr>
          <p:nvPr>
            <p:ph type="body" idx="1"/>
          </p:nvPr>
        </p:nvSpPr>
        <p:spPr>
          <a:xfrm>
            <a:off x="457200" y="3429000"/>
            <a:ext cx="8229600" cy="3024188"/>
          </a:xfrm>
        </p:spPr>
        <p:txBody>
          <a:bodyPr/>
          <a:lstStyle/>
          <a:p>
            <a:r>
              <a:rPr lang="ja-JP" altLang="en-US" dirty="0"/>
              <a:t>シーンはショットを組み合わせて表現する</a:t>
            </a:r>
          </a:p>
          <a:p>
            <a:pPr lvl="1"/>
            <a:r>
              <a:rPr lang="ja-JP" altLang="en-US" dirty="0"/>
              <a:t>ショットを組み合わせてシーンを説明する</a:t>
            </a:r>
          </a:p>
          <a:p>
            <a:r>
              <a:rPr lang="ja-JP" altLang="en-US" dirty="0"/>
              <a:t>一つのショットで多くを語ろうとしない</a:t>
            </a:r>
          </a:p>
          <a:p>
            <a:pPr lvl="1"/>
            <a:r>
              <a:rPr lang="ja-JP" altLang="en-US" smtClean="0"/>
              <a:t>長いショットは</a:t>
            </a:r>
            <a:r>
              <a:rPr lang="ja-JP" altLang="en-US" dirty="0"/>
              <a:t>退屈になりがち</a:t>
            </a:r>
          </a:p>
          <a:p>
            <a:pPr lvl="1"/>
            <a:r>
              <a:rPr lang="ja-JP" altLang="en-US" dirty="0"/>
              <a:t>データ量が多くなり取り扱いが煩雑になることも</a:t>
            </a:r>
          </a:p>
          <a:p>
            <a:pPr lvl="1"/>
            <a:endParaRPr lang="en-US" altLang="ja-JP" dirty="0"/>
          </a:p>
        </p:txBody>
      </p:sp>
      <p:sp>
        <p:nvSpPr>
          <p:cNvPr id="236548" name="Rectangle 4"/>
          <p:cNvSpPr>
            <a:spLocks noChangeArrowheads="1"/>
          </p:cNvSpPr>
          <p:nvPr/>
        </p:nvSpPr>
        <p:spPr bwMode="auto">
          <a:xfrm>
            <a:off x="2411413" y="1989138"/>
            <a:ext cx="2160587" cy="10795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36549" name="Rectangle 5"/>
          <p:cNvSpPr>
            <a:spLocks noChangeArrowheads="1"/>
          </p:cNvSpPr>
          <p:nvPr/>
        </p:nvSpPr>
        <p:spPr bwMode="auto">
          <a:xfrm>
            <a:off x="250825" y="1989138"/>
            <a:ext cx="2160588" cy="10795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36550" name="Rectangle 6"/>
          <p:cNvSpPr>
            <a:spLocks noChangeArrowheads="1"/>
          </p:cNvSpPr>
          <p:nvPr/>
        </p:nvSpPr>
        <p:spPr bwMode="auto">
          <a:xfrm>
            <a:off x="4572000" y="1989138"/>
            <a:ext cx="2160588" cy="10795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36551" name="Rectangle 7"/>
          <p:cNvSpPr>
            <a:spLocks noChangeArrowheads="1"/>
          </p:cNvSpPr>
          <p:nvPr/>
        </p:nvSpPr>
        <p:spPr bwMode="auto">
          <a:xfrm>
            <a:off x="6732588" y="1989138"/>
            <a:ext cx="2160587" cy="10795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36552" name="Text Box 8"/>
          <p:cNvSpPr txBox="1">
            <a:spLocks noChangeArrowheads="1"/>
          </p:cNvSpPr>
          <p:nvPr/>
        </p:nvSpPr>
        <p:spPr bwMode="auto">
          <a:xfrm>
            <a:off x="1166813" y="52339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ja-JP" altLang="ja-JP"/>
          </a:p>
        </p:txBody>
      </p:sp>
      <p:sp>
        <p:nvSpPr>
          <p:cNvPr id="236553" name="Text Box 9"/>
          <p:cNvSpPr txBox="1">
            <a:spLocks noChangeArrowheads="1"/>
          </p:cNvSpPr>
          <p:nvPr/>
        </p:nvSpPr>
        <p:spPr bwMode="auto">
          <a:xfrm>
            <a:off x="250825" y="1484313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「起」のシーン</a:t>
            </a:r>
          </a:p>
        </p:txBody>
      </p:sp>
      <p:sp>
        <p:nvSpPr>
          <p:cNvPr id="236554" name="Text Box 10"/>
          <p:cNvSpPr txBox="1">
            <a:spLocks noChangeArrowheads="1"/>
          </p:cNvSpPr>
          <p:nvPr/>
        </p:nvSpPr>
        <p:spPr bwMode="auto">
          <a:xfrm>
            <a:off x="2411413" y="1484313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「承」のシーン</a:t>
            </a:r>
          </a:p>
        </p:txBody>
      </p:sp>
      <p:sp>
        <p:nvSpPr>
          <p:cNvPr id="236555" name="Text Box 11"/>
          <p:cNvSpPr txBox="1">
            <a:spLocks noChangeArrowheads="1"/>
          </p:cNvSpPr>
          <p:nvPr/>
        </p:nvSpPr>
        <p:spPr bwMode="auto">
          <a:xfrm>
            <a:off x="4572000" y="1484313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「転」のシーン</a:t>
            </a:r>
          </a:p>
        </p:txBody>
      </p:sp>
      <p:sp>
        <p:nvSpPr>
          <p:cNvPr id="236556" name="Text Box 12"/>
          <p:cNvSpPr txBox="1">
            <a:spLocks noChangeArrowheads="1"/>
          </p:cNvSpPr>
          <p:nvPr/>
        </p:nvSpPr>
        <p:spPr bwMode="auto">
          <a:xfrm>
            <a:off x="6732588" y="1484313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「結」のシーン</a:t>
            </a:r>
          </a:p>
        </p:txBody>
      </p:sp>
      <p:sp>
        <p:nvSpPr>
          <p:cNvPr id="236557" name="Line 13"/>
          <p:cNvSpPr>
            <a:spLocks noChangeShapeType="1"/>
          </p:cNvSpPr>
          <p:nvPr/>
        </p:nvSpPr>
        <p:spPr bwMode="auto">
          <a:xfrm>
            <a:off x="827088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65" name="Line 21"/>
          <p:cNvSpPr>
            <a:spLocks noChangeShapeType="1"/>
          </p:cNvSpPr>
          <p:nvPr/>
        </p:nvSpPr>
        <p:spPr bwMode="auto">
          <a:xfrm>
            <a:off x="1547813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66" name="Line 22"/>
          <p:cNvSpPr>
            <a:spLocks noChangeShapeType="1"/>
          </p:cNvSpPr>
          <p:nvPr/>
        </p:nvSpPr>
        <p:spPr bwMode="auto">
          <a:xfrm>
            <a:off x="1908175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67" name="Line 23"/>
          <p:cNvSpPr>
            <a:spLocks noChangeShapeType="1"/>
          </p:cNvSpPr>
          <p:nvPr/>
        </p:nvSpPr>
        <p:spPr bwMode="auto">
          <a:xfrm>
            <a:off x="2700338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68" name="Line 24"/>
          <p:cNvSpPr>
            <a:spLocks noChangeShapeType="1"/>
          </p:cNvSpPr>
          <p:nvPr/>
        </p:nvSpPr>
        <p:spPr bwMode="auto">
          <a:xfrm>
            <a:off x="3492500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69" name="Line 25"/>
          <p:cNvSpPr>
            <a:spLocks noChangeShapeType="1"/>
          </p:cNvSpPr>
          <p:nvPr/>
        </p:nvSpPr>
        <p:spPr bwMode="auto">
          <a:xfrm>
            <a:off x="3924300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0" name="Line 26"/>
          <p:cNvSpPr>
            <a:spLocks noChangeShapeType="1"/>
          </p:cNvSpPr>
          <p:nvPr/>
        </p:nvSpPr>
        <p:spPr bwMode="auto">
          <a:xfrm>
            <a:off x="5219700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1" name="Line 27"/>
          <p:cNvSpPr>
            <a:spLocks noChangeShapeType="1"/>
          </p:cNvSpPr>
          <p:nvPr/>
        </p:nvSpPr>
        <p:spPr bwMode="auto">
          <a:xfrm>
            <a:off x="5580063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2" name="Line 28"/>
          <p:cNvSpPr>
            <a:spLocks noChangeShapeType="1"/>
          </p:cNvSpPr>
          <p:nvPr/>
        </p:nvSpPr>
        <p:spPr bwMode="auto">
          <a:xfrm>
            <a:off x="6372225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3" name="Line 29"/>
          <p:cNvSpPr>
            <a:spLocks noChangeShapeType="1"/>
          </p:cNvSpPr>
          <p:nvPr/>
        </p:nvSpPr>
        <p:spPr bwMode="auto">
          <a:xfrm>
            <a:off x="7164388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4" name="Line 30"/>
          <p:cNvSpPr>
            <a:spLocks noChangeShapeType="1"/>
          </p:cNvSpPr>
          <p:nvPr/>
        </p:nvSpPr>
        <p:spPr bwMode="auto">
          <a:xfrm>
            <a:off x="7956550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5" name="Line 31"/>
          <p:cNvSpPr>
            <a:spLocks noChangeShapeType="1"/>
          </p:cNvSpPr>
          <p:nvPr/>
        </p:nvSpPr>
        <p:spPr bwMode="auto">
          <a:xfrm>
            <a:off x="8532813" y="19891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6576" name="Text Box 32"/>
          <p:cNvSpPr txBox="1">
            <a:spLocks noChangeArrowheads="1"/>
          </p:cNvSpPr>
          <p:nvPr/>
        </p:nvSpPr>
        <p:spPr bwMode="auto">
          <a:xfrm>
            <a:off x="293688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77" name="Text Box 33"/>
          <p:cNvSpPr txBox="1">
            <a:spLocks noChangeArrowheads="1"/>
          </p:cNvSpPr>
          <p:nvPr/>
        </p:nvSpPr>
        <p:spPr bwMode="auto">
          <a:xfrm>
            <a:off x="971550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78" name="Text Box 34"/>
          <p:cNvSpPr txBox="1">
            <a:spLocks noChangeArrowheads="1"/>
          </p:cNvSpPr>
          <p:nvPr/>
        </p:nvSpPr>
        <p:spPr bwMode="auto">
          <a:xfrm>
            <a:off x="2843213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79" name="Text Box 35"/>
          <p:cNvSpPr txBox="1">
            <a:spLocks noChangeArrowheads="1"/>
          </p:cNvSpPr>
          <p:nvPr/>
        </p:nvSpPr>
        <p:spPr bwMode="auto">
          <a:xfrm>
            <a:off x="1476375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0" name="Text Box 36"/>
          <p:cNvSpPr txBox="1">
            <a:spLocks noChangeArrowheads="1"/>
          </p:cNvSpPr>
          <p:nvPr/>
        </p:nvSpPr>
        <p:spPr bwMode="auto">
          <a:xfrm>
            <a:off x="1908175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1" name="Text Box 37"/>
          <p:cNvSpPr txBox="1">
            <a:spLocks noChangeArrowheads="1"/>
          </p:cNvSpPr>
          <p:nvPr/>
        </p:nvSpPr>
        <p:spPr bwMode="auto">
          <a:xfrm>
            <a:off x="2339975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2" name="Text Box 38"/>
          <p:cNvSpPr txBox="1">
            <a:spLocks noChangeArrowheads="1"/>
          </p:cNvSpPr>
          <p:nvPr/>
        </p:nvSpPr>
        <p:spPr bwMode="auto">
          <a:xfrm>
            <a:off x="3492500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3" name="Text Box 39"/>
          <p:cNvSpPr txBox="1">
            <a:spLocks noChangeArrowheads="1"/>
          </p:cNvSpPr>
          <p:nvPr/>
        </p:nvSpPr>
        <p:spPr bwMode="auto">
          <a:xfrm>
            <a:off x="4011613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4" name="Text Box 40"/>
          <p:cNvSpPr txBox="1">
            <a:spLocks noChangeArrowheads="1"/>
          </p:cNvSpPr>
          <p:nvPr/>
        </p:nvSpPr>
        <p:spPr bwMode="auto">
          <a:xfrm>
            <a:off x="4643438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5" name="Text Box 41"/>
          <p:cNvSpPr txBox="1">
            <a:spLocks noChangeArrowheads="1"/>
          </p:cNvSpPr>
          <p:nvPr/>
        </p:nvSpPr>
        <p:spPr bwMode="auto">
          <a:xfrm>
            <a:off x="5162550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6" name="Text Box 42"/>
          <p:cNvSpPr txBox="1">
            <a:spLocks noChangeArrowheads="1"/>
          </p:cNvSpPr>
          <p:nvPr/>
        </p:nvSpPr>
        <p:spPr bwMode="auto">
          <a:xfrm>
            <a:off x="5724525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7" name="Text Box 43"/>
          <p:cNvSpPr txBox="1">
            <a:spLocks noChangeArrowheads="1"/>
          </p:cNvSpPr>
          <p:nvPr/>
        </p:nvSpPr>
        <p:spPr bwMode="auto">
          <a:xfrm>
            <a:off x="6315075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8" name="Text Box 44"/>
          <p:cNvSpPr txBox="1">
            <a:spLocks noChangeArrowheads="1"/>
          </p:cNvSpPr>
          <p:nvPr/>
        </p:nvSpPr>
        <p:spPr bwMode="auto">
          <a:xfrm>
            <a:off x="6732588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89" name="Text Box 45"/>
          <p:cNvSpPr txBox="1">
            <a:spLocks noChangeArrowheads="1"/>
          </p:cNvSpPr>
          <p:nvPr/>
        </p:nvSpPr>
        <p:spPr bwMode="auto">
          <a:xfrm>
            <a:off x="7323138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90" name="Text Box 46"/>
          <p:cNvSpPr txBox="1">
            <a:spLocks noChangeArrowheads="1"/>
          </p:cNvSpPr>
          <p:nvPr/>
        </p:nvSpPr>
        <p:spPr bwMode="auto">
          <a:xfrm>
            <a:off x="8027988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  <p:sp>
        <p:nvSpPr>
          <p:cNvPr id="236591" name="Text Box 47"/>
          <p:cNvSpPr txBox="1">
            <a:spLocks noChangeArrowheads="1"/>
          </p:cNvSpPr>
          <p:nvPr/>
        </p:nvSpPr>
        <p:spPr bwMode="auto">
          <a:xfrm>
            <a:off x="8459788" y="1989138"/>
            <a:ext cx="488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/>
            <a:r>
              <a:rPr lang="ja-JP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ショット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437A-7512-40EF-9E88-203CD56DBE19}" type="slidenum">
              <a:rPr lang="en-US" altLang="ja-JP"/>
              <a:pPr/>
              <a:t>19</a:t>
            </a:fld>
            <a:endParaRPr lang="en-US" altLang="ja-JP" dirty="0"/>
          </a:p>
        </p:txBody>
      </p:sp>
      <p:sp>
        <p:nvSpPr>
          <p:cNvPr id="1781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シナリオ執筆：ステップ１</a:t>
            </a:r>
          </a:p>
        </p:txBody>
      </p:sp>
      <p:sp>
        <p:nvSpPr>
          <p:cNvPr id="17818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このムービーは「起・承・転・結」の４つのシーンで構成するものとする</a:t>
            </a:r>
          </a:p>
          <a:p>
            <a:r>
              <a:rPr lang="ja-JP" altLang="en-US" dirty="0"/>
              <a:t>コンセプトを元に各シーンで描くものを決め，それぞれにタイトルをつける</a:t>
            </a:r>
          </a:p>
          <a:p>
            <a:pPr lvl="1"/>
            <a:r>
              <a:rPr lang="ja-JP" altLang="en-US" dirty="0"/>
              <a:t>「起」のシーン：問題提起など商品に至る導入等</a:t>
            </a:r>
          </a:p>
          <a:p>
            <a:pPr lvl="1"/>
            <a:r>
              <a:rPr lang="ja-JP" altLang="en-US" dirty="0"/>
              <a:t>「承」のシーン：具体的な商品の紹介等</a:t>
            </a:r>
          </a:p>
          <a:p>
            <a:pPr lvl="1"/>
            <a:r>
              <a:rPr lang="ja-JP" altLang="en-US" dirty="0"/>
              <a:t>「転」のシーン：得られる効果の表現等</a:t>
            </a:r>
          </a:p>
          <a:p>
            <a:pPr lvl="1"/>
            <a:r>
              <a:rPr lang="ja-JP" altLang="en-US" dirty="0"/>
              <a:t>「結」のシーン：結果や「落ち」</a:t>
            </a:r>
            <a:r>
              <a:rPr lang="ja-JP" altLang="en-US" dirty="0" smtClean="0"/>
              <a:t>，クレジット等</a:t>
            </a:r>
            <a:endParaRPr lang="ja-JP" altLang="en-US" dirty="0"/>
          </a:p>
          <a:p>
            <a:r>
              <a:rPr lang="ja-JP" altLang="en-US" dirty="0"/>
              <a:t>ちなみ</a:t>
            </a:r>
            <a:r>
              <a:rPr lang="ja-JP" altLang="en-US" dirty="0" smtClean="0"/>
              <a:t>に，ハリウッドスタイル</a:t>
            </a:r>
            <a:r>
              <a:rPr lang="ja-JP" altLang="en-US" dirty="0"/>
              <a:t>だと「三幕構成」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070C-A26A-4527-8F8A-2DB1C6D68368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1792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シナリオ執筆：ステップ２</a:t>
            </a:r>
          </a:p>
        </p:txBody>
      </p:sp>
      <p:sp>
        <p:nvSpPr>
          <p:cNvPr id="17920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各シーンの内容を書く</a:t>
            </a:r>
          </a:p>
          <a:p>
            <a:pPr lvl="1"/>
            <a:r>
              <a:rPr lang="ja-JP" altLang="en-US"/>
              <a:t>理解可能なストーリーを再現していること</a:t>
            </a:r>
          </a:p>
          <a:p>
            <a:pPr lvl="1"/>
            <a:r>
              <a:rPr lang="ja-JP" altLang="en-US"/>
              <a:t>実際の絵作りを想定した内容であること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38F9-3532-4328-80B2-F6609E582BF1}" type="slidenum">
              <a:rPr lang="en-US" altLang="ja-JP"/>
              <a:pPr/>
              <a:t>21</a:t>
            </a:fld>
            <a:endParaRPr lang="en-US" altLang="ja-JP"/>
          </a:p>
        </p:txBody>
      </p:sp>
      <p:sp>
        <p:nvSpPr>
          <p:cNvPr id="180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シナリオ執筆：ステップ３</a:t>
            </a:r>
          </a:p>
        </p:txBody>
      </p:sp>
      <p:sp>
        <p:nvSpPr>
          <p:cNvPr id="1802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シーンの内容をショットに分割する</a:t>
            </a:r>
          </a:p>
          <a:p>
            <a:pPr lvl="1"/>
            <a:r>
              <a:rPr lang="ja-JP" altLang="en-US"/>
              <a:t>各ショットで表現する内容を，</a:t>
            </a:r>
          </a:p>
          <a:p>
            <a:pPr lvl="1"/>
            <a:r>
              <a:rPr lang="ja-JP" altLang="en-US"/>
              <a:t>箇条書きで簡潔に，</a:t>
            </a:r>
          </a:p>
          <a:p>
            <a:pPr lvl="1"/>
            <a:r>
              <a:rPr lang="ja-JP" altLang="en-US"/>
              <a:t>時間を追って具体的に書く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93CC7-DABC-4DCF-9620-247B3A938914}" type="slidenum">
              <a:rPr lang="en-US" altLang="ja-JP"/>
              <a:pPr/>
              <a:t>22</a:t>
            </a:fld>
            <a:endParaRPr lang="en-US" altLang="ja-JP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絵コンテの作成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文章で書かれたシナリオの説明を図で表す</a:t>
            </a:r>
          </a:p>
          <a:p>
            <a:pPr lvl="1"/>
            <a:r>
              <a:rPr lang="ja-JP" altLang="en-US"/>
              <a:t>キャスト（オブジェクト）の配置</a:t>
            </a:r>
          </a:p>
          <a:p>
            <a:pPr lvl="1"/>
            <a:r>
              <a:rPr lang="ja-JP" altLang="en-US"/>
              <a:t>カメラから見た目</a:t>
            </a:r>
          </a:p>
          <a:p>
            <a:pPr lvl="1"/>
            <a:r>
              <a:rPr lang="ja-JP" altLang="en-US"/>
              <a:t>ライト</a:t>
            </a:r>
          </a:p>
          <a:p>
            <a:pPr lvl="1"/>
            <a:r>
              <a:rPr lang="ja-JP" altLang="en-US"/>
              <a:t>背景・周辺の状況</a:t>
            </a:r>
          </a:p>
          <a:p>
            <a:pPr lvl="1"/>
            <a:r>
              <a:rPr lang="ja-JP" altLang="en-US"/>
              <a:t>動き</a:t>
            </a:r>
            <a:r>
              <a:rPr lang="en-US" altLang="ja-JP"/>
              <a:t>,</a:t>
            </a:r>
            <a:r>
              <a:rPr lang="ja-JP" altLang="en-US"/>
              <a:t>　など</a:t>
            </a:r>
          </a:p>
          <a:p>
            <a:r>
              <a:rPr lang="ja-JP" altLang="en-US"/>
              <a:t>１ショットを１コマ～数コマで表す</a:t>
            </a:r>
          </a:p>
          <a:p>
            <a:r>
              <a:rPr lang="ja-JP" altLang="en-US"/>
              <a:t>ショットの時間を見積もる</a:t>
            </a:r>
          </a:p>
          <a:p>
            <a:pPr lvl="1"/>
            <a:r>
              <a:rPr lang="ja-JP" altLang="en-US"/>
              <a:t>ショットごとに「シーンファイル」を作る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7325D-3359-4DDF-A4E0-75847D1EC401}" type="slidenum">
              <a:rPr lang="en-US" altLang="ja-JP"/>
              <a:pPr/>
              <a:t>23</a:t>
            </a:fld>
            <a:endParaRPr lang="en-US" altLang="ja-JP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演習用絵コンテシートの使い方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ja-JP" altLang="en-US" sz="2400"/>
              <a:t>学籍番号・氏名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シナリオ・絵コンテシート・パーツリストは完成したムービーと一緒に提出</a:t>
            </a:r>
          </a:p>
          <a:p>
            <a:pPr>
              <a:lnSpc>
                <a:spcPct val="90000"/>
              </a:lnSpc>
            </a:pPr>
            <a:r>
              <a:rPr lang="ja-JP" altLang="en-US" sz="2400"/>
              <a:t>題名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作成するムービーにはコンセプトを表したタイトルをつける</a:t>
            </a:r>
          </a:p>
          <a:p>
            <a:pPr>
              <a:lnSpc>
                <a:spcPct val="90000"/>
              </a:lnSpc>
            </a:pPr>
            <a:r>
              <a:rPr kumimoji="0" lang="ja-JP" altLang="en-US" sz="2400"/>
              <a:t>シーン題名</a:t>
            </a:r>
          </a:p>
          <a:p>
            <a:pPr lvl="1">
              <a:lnSpc>
                <a:spcPct val="90000"/>
              </a:lnSpc>
            </a:pPr>
            <a:r>
              <a:rPr kumimoji="0" lang="ja-JP" altLang="en-US" sz="2000"/>
              <a:t>絵コンテはシーンごとに別の紙に描き，それぞれにシーンの説明を書く</a:t>
            </a:r>
          </a:p>
          <a:p>
            <a:pPr>
              <a:lnSpc>
                <a:spcPct val="90000"/>
              </a:lnSpc>
            </a:pPr>
            <a:r>
              <a:rPr kumimoji="0" lang="ja-JP" altLang="en-US" sz="2400"/>
              <a:t>ファイル</a:t>
            </a:r>
          </a:p>
          <a:p>
            <a:pPr lvl="1">
              <a:lnSpc>
                <a:spcPct val="90000"/>
              </a:lnSpc>
            </a:pPr>
            <a:r>
              <a:rPr kumimoji="0" lang="ja-JP" altLang="en-US" sz="2000"/>
              <a:t>ショットの継ぎ目（カット）に線を入れる（後で対応するシーンファイル名をここに書く）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0" lang="ja-JP" altLang="en-US" sz="2400"/>
              <a:t>イメージ</a:t>
            </a:r>
          </a:p>
          <a:p>
            <a:pPr lvl="1">
              <a:lnSpc>
                <a:spcPct val="90000"/>
              </a:lnSpc>
            </a:pPr>
            <a:r>
              <a:rPr kumimoji="0" lang="ja-JP" altLang="en-US" sz="2000"/>
              <a:t>ショットの最初のフレーム，あるいは特徴的な２～３フレームのイメージを描く</a:t>
            </a:r>
          </a:p>
          <a:p>
            <a:pPr>
              <a:lnSpc>
                <a:spcPct val="90000"/>
              </a:lnSpc>
            </a:pPr>
            <a:r>
              <a:rPr lang="ja-JP" altLang="en-US" sz="2400"/>
              <a:t>動作・メモ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イメージがどのように変化していくのか説明や，演出のための指示を書く</a:t>
            </a:r>
          </a:p>
          <a:p>
            <a:pPr>
              <a:lnSpc>
                <a:spcPct val="90000"/>
              </a:lnSpc>
            </a:pPr>
            <a:r>
              <a:rPr lang="ja-JP" altLang="en-US" sz="2400"/>
              <a:t>セリフ・効果音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セリフの内容や効果音の説明を書く</a:t>
            </a:r>
          </a:p>
          <a:p>
            <a:pPr>
              <a:lnSpc>
                <a:spcPct val="90000"/>
              </a:lnSpc>
            </a:pPr>
            <a:r>
              <a:rPr lang="ja-JP" altLang="en-US" sz="2400"/>
              <a:t>時間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各イメージの所要時間を書き，各ショットの最後（カット位置）にショットの所要時間を書く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DD3E-E812-499E-936E-2B97E1D1626A}" type="slidenum">
              <a:rPr lang="en-US" altLang="ja-JP"/>
              <a:pPr/>
              <a:t>24</a:t>
            </a:fld>
            <a:endParaRPr lang="en-US" altLang="ja-JP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パーツリストの作成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ja-JP" altLang="en-US"/>
              <a:t>パーツリスト</a:t>
            </a:r>
          </a:p>
          <a:p>
            <a:pPr lvl="1"/>
            <a:r>
              <a:rPr kumimoji="0" lang="ja-JP" altLang="en-US"/>
              <a:t>絵コンテを元にどんなパーツが必要か調べる</a:t>
            </a:r>
          </a:p>
          <a:p>
            <a:pPr lvl="1"/>
            <a:r>
              <a:rPr kumimoji="0" lang="ja-JP" altLang="en-US"/>
              <a:t>各パーツが出演するショットのダイヤグラムを書く</a:t>
            </a:r>
          </a:p>
          <a:p>
            <a:pPr lvl="1"/>
            <a:r>
              <a:rPr kumimoji="0" lang="ja-JP" altLang="en-US"/>
              <a:t>パーツごとに「オブジェクトファイル」を作る</a:t>
            </a:r>
          </a:p>
          <a:p>
            <a:r>
              <a:rPr kumimoji="0" lang="ja-JP" altLang="en-US"/>
              <a:t>アートボード</a:t>
            </a:r>
          </a:p>
          <a:p>
            <a:pPr lvl="1"/>
            <a:r>
              <a:rPr kumimoji="0" lang="ja-JP" altLang="en-US"/>
              <a:t>個々のシーンやパーツのデザイン画を描く</a:t>
            </a:r>
          </a:p>
          <a:p>
            <a:r>
              <a:rPr lang="ja-JP" altLang="en-US"/>
              <a:t>色指定リスト</a:t>
            </a:r>
          </a:p>
          <a:p>
            <a:pPr lvl="1"/>
            <a:r>
              <a:rPr lang="ja-JP" altLang="en-US"/>
              <a:t>各パーツの色やテクスチャを決定する</a:t>
            </a:r>
          </a:p>
          <a:p>
            <a:pPr lvl="1"/>
            <a:r>
              <a:rPr lang="ja-JP" altLang="en-US"/>
              <a:t>使う色を制限して全体の色に統一感を持たせる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18BDB-F264-4FF7-AF76-309F358AB35E}" type="slidenum">
              <a:rPr lang="en-US" altLang="ja-JP"/>
              <a:pPr/>
              <a:t>25</a:t>
            </a:fld>
            <a:endParaRPr lang="en-US" altLang="ja-JP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演習用パーツリストの使い方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ja-JP" altLang="en-US" sz="2400"/>
              <a:t>学籍番号・氏名</a:t>
            </a:r>
          </a:p>
          <a:p>
            <a:pPr lvl="1"/>
            <a:r>
              <a:rPr lang="ja-JP" altLang="en-US" sz="2000"/>
              <a:t>シナリオ・絵コンテシート・パーツリストは完成したムービーと一緒に提出</a:t>
            </a:r>
          </a:p>
          <a:p>
            <a:r>
              <a:rPr lang="ja-JP" altLang="en-US" sz="2400"/>
              <a:t>題名</a:t>
            </a:r>
          </a:p>
          <a:p>
            <a:pPr lvl="1"/>
            <a:r>
              <a:rPr lang="ja-JP" altLang="en-US" sz="2000"/>
              <a:t>このパーツを使用するムービーのタイトルを書く</a:t>
            </a:r>
          </a:p>
          <a:p>
            <a:r>
              <a:rPr kumimoji="0" lang="ja-JP" altLang="en-US" sz="2400"/>
              <a:t>ファイル</a:t>
            </a:r>
          </a:p>
          <a:p>
            <a:pPr lvl="1"/>
            <a:r>
              <a:rPr kumimoji="0" lang="ja-JP" altLang="en-US" sz="2000"/>
              <a:t>後でこのパーツをモデリングしたオブジェクトファイルのファイル名を書く</a:t>
            </a:r>
          </a:p>
          <a:p>
            <a:r>
              <a:rPr kumimoji="0" lang="ja-JP" altLang="en-US" sz="2400"/>
              <a:t>「ファイル</a:t>
            </a:r>
            <a:r>
              <a:rPr kumimoji="0" lang="en-US" altLang="ja-JP" sz="2400"/>
              <a:t>:</a:t>
            </a:r>
            <a:r>
              <a:rPr kumimoji="0" lang="ja-JP" altLang="en-US" sz="2400"/>
              <a:t>」の下の枠</a:t>
            </a:r>
          </a:p>
          <a:p>
            <a:pPr lvl="1"/>
            <a:r>
              <a:rPr kumimoji="0" lang="ja-JP" altLang="en-US" sz="2000"/>
              <a:t>パーツのイメージ画を描く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kumimoji="0" lang="ja-JP" altLang="en-US" sz="2400"/>
              <a:t>登場シーン</a:t>
            </a:r>
          </a:p>
          <a:p>
            <a:pPr lvl="1"/>
            <a:r>
              <a:rPr kumimoji="0" lang="ja-JP" altLang="en-US" sz="2000"/>
              <a:t>このパーツを使用するシーン（１：起，２：承，３：転，４：結，として）に横線を引く</a:t>
            </a:r>
          </a:p>
          <a:p>
            <a:r>
              <a:rPr lang="ja-JP" altLang="en-US" sz="2400"/>
              <a:t>説明</a:t>
            </a:r>
          </a:p>
          <a:p>
            <a:pPr lvl="1"/>
            <a:r>
              <a:rPr lang="ja-JP" altLang="en-US" sz="2000"/>
              <a:t>パーツの名称，モデリング上の指定事項，覚え書き等を書く</a:t>
            </a:r>
          </a:p>
          <a:p>
            <a:r>
              <a:rPr lang="ja-JP" altLang="en-US" sz="2400"/>
              <a:t>色指定</a:t>
            </a:r>
          </a:p>
          <a:p>
            <a:pPr lvl="1"/>
            <a:r>
              <a:rPr lang="ja-JP" altLang="en-US" sz="2000"/>
              <a:t>どの部分にどういう色や質感を与えるのか，どういうテクスチャ（模様）を付けるのかなどを書き，テクスチャに使った画像ファイル名などを書く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12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396E-AFE2-4CCA-9600-F6AC85EDAA36}" type="slidenum">
              <a:rPr lang="en-US" altLang="ja-JP"/>
              <a:pPr/>
              <a:t>26</a:t>
            </a:fld>
            <a:endParaRPr lang="en-US" altLang="ja-JP"/>
          </a:p>
        </p:txBody>
      </p:sp>
      <p:grpSp>
        <p:nvGrpSpPr>
          <p:cNvPr id="193637" name="Group 101"/>
          <p:cNvGrpSpPr>
            <a:grpSpLocks/>
          </p:cNvGrpSpPr>
          <p:nvPr/>
        </p:nvGrpSpPr>
        <p:grpSpPr bwMode="auto">
          <a:xfrm>
            <a:off x="5665788" y="1827213"/>
            <a:ext cx="863600" cy="1169987"/>
            <a:chOff x="3424" y="1162"/>
            <a:chExt cx="544" cy="873"/>
          </a:xfrm>
        </p:grpSpPr>
        <p:sp>
          <p:nvSpPr>
            <p:cNvPr id="193631" name="AutoShape 95"/>
            <p:cNvSpPr>
              <a:spLocks noChangeArrowheads="1"/>
            </p:cNvSpPr>
            <p:nvPr/>
          </p:nvSpPr>
          <p:spPr bwMode="auto">
            <a:xfrm>
              <a:off x="3696" y="1729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32" name="AutoShape 96"/>
            <p:cNvSpPr>
              <a:spLocks noChangeArrowheads="1"/>
            </p:cNvSpPr>
            <p:nvPr/>
          </p:nvSpPr>
          <p:spPr bwMode="auto">
            <a:xfrm>
              <a:off x="3696" y="1899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2" name="AutoShape 76"/>
            <p:cNvSpPr>
              <a:spLocks noChangeArrowheads="1"/>
            </p:cNvSpPr>
            <p:nvPr/>
          </p:nvSpPr>
          <p:spPr bwMode="auto">
            <a:xfrm>
              <a:off x="3696" y="1229"/>
              <a:ext cx="272" cy="137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3" name="AutoShape 77"/>
            <p:cNvSpPr>
              <a:spLocks noChangeArrowheads="1"/>
            </p:cNvSpPr>
            <p:nvPr/>
          </p:nvSpPr>
          <p:spPr bwMode="auto">
            <a:xfrm>
              <a:off x="3696" y="1400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4" name="AutoShape 78"/>
            <p:cNvSpPr>
              <a:spLocks noChangeArrowheads="1"/>
            </p:cNvSpPr>
            <p:nvPr/>
          </p:nvSpPr>
          <p:spPr bwMode="auto">
            <a:xfrm>
              <a:off x="3696" y="1570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33" name="AutoShape 97"/>
            <p:cNvSpPr>
              <a:spLocks noChangeArrowheads="1"/>
            </p:cNvSpPr>
            <p:nvPr/>
          </p:nvSpPr>
          <p:spPr bwMode="auto">
            <a:xfrm>
              <a:off x="3560" y="1695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34" name="AutoShape 98"/>
            <p:cNvSpPr>
              <a:spLocks noChangeArrowheads="1"/>
            </p:cNvSpPr>
            <p:nvPr/>
          </p:nvSpPr>
          <p:spPr bwMode="auto">
            <a:xfrm>
              <a:off x="3560" y="1865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5" name="AutoShape 79"/>
            <p:cNvSpPr>
              <a:spLocks noChangeArrowheads="1"/>
            </p:cNvSpPr>
            <p:nvPr/>
          </p:nvSpPr>
          <p:spPr bwMode="auto">
            <a:xfrm>
              <a:off x="3560" y="1196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6" name="AutoShape 80"/>
            <p:cNvSpPr>
              <a:spLocks noChangeArrowheads="1"/>
            </p:cNvSpPr>
            <p:nvPr/>
          </p:nvSpPr>
          <p:spPr bwMode="auto">
            <a:xfrm>
              <a:off x="3560" y="1366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7" name="AutoShape 81"/>
            <p:cNvSpPr>
              <a:spLocks noChangeArrowheads="1"/>
            </p:cNvSpPr>
            <p:nvPr/>
          </p:nvSpPr>
          <p:spPr bwMode="auto">
            <a:xfrm>
              <a:off x="3560" y="1536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35" name="AutoShape 99"/>
            <p:cNvSpPr>
              <a:spLocks noChangeArrowheads="1"/>
            </p:cNvSpPr>
            <p:nvPr/>
          </p:nvSpPr>
          <p:spPr bwMode="auto">
            <a:xfrm>
              <a:off x="3424" y="1661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36" name="AutoShape 100"/>
            <p:cNvSpPr>
              <a:spLocks noChangeArrowheads="1"/>
            </p:cNvSpPr>
            <p:nvPr/>
          </p:nvSpPr>
          <p:spPr bwMode="auto">
            <a:xfrm>
              <a:off x="3424" y="1831"/>
              <a:ext cx="272" cy="137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8" name="AutoShape 82"/>
            <p:cNvSpPr>
              <a:spLocks noChangeArrowheads="1"/>
            </p:cNvSpPr>
            <p:nvPr/>
          </p:nvSpPr>
          <p:spPr bwMode="auto">
            <a:xfrm>
              <a:off x="3424" y="1162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19" name="AutoShape 83"/>
            <p:cNvSpPr>
              <a:spLocks noChangeArrowheads="1"/>
            </p:cNvSpPr>
            <p:nvPr/>
          </p:nvSpPr>
          <p:spPr bwMode="auto">
            <a:xfrm>
              <a:off x="3424" y="1332"/>
              <a:ext cx="272" cy="136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0" name="AutoShape 84"/>
            <p:cNvSpPr>
              <a:spLocks noChangeArrowheads="1"/>
            </p:cNvSpPr>
            <p:nvPr/>
          </p:nvSpPr>
          <p:spPr bwMode="auto">
            <a:xfrm>
              <a:off x="3424" y="1502"/>
              <a:ext cx="272" cy="137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課題制作のワークフロー</a:t>
            </a:r>
          </a:p>
        </p:txBody>
      </p:sp>
      <p:sp>
        <p:nvSpPr>
          <p:cNvPr id="193540" name="AutoShape 4"/>
          <p:cNvSpPr>
            <a:spLocks noChangeArrowheads="1"/>
          </p:cNvSpPr>
          <p:nvPr/>
        </p:nvSpPr>
        <p:spPr bwMode="auto">
          <a:xfrm>
            <a:off x="301625" y="4797425"/>
            <a:ext cx="1582738" cy="1223963"/>
          </a:xfrm>
          <a:prstGeom prst="cloudCallout">
            <a:avLst>
              <a:gd name="adj1" fmla="val -42977"/>
              <a:gd name="adj2" fmla="val 63361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ja-JP" altLang="en-US" sz="1600">
                <a:solidFill>
                  <a:schemeClr val="accent1"/>
                </a:solidFill>
              </a:rPr>
              <a:t>アイデア</a:t>
            </a:r>
          </a:p>
          <a:p>
            <a:pPr algn="ctr"/>
            <a:r>
              <a:rPr lang="ja-JP" altLang="en-US" sz="1600">
                <a:solidFill>
                  <a:schemeClr val="accent1"/>
                </a:solidFill>
              </a:rPr>
              <a:t>コンセプト</a:t>
            </a:r>
          </a:p>
          <a:p>
            <a:pPr algn="ctr"/>
            <a:r>
              <a:rPr lang="ja-JP" altLang="en-US" sz="1600">
                <a:solidFill>
                  <a:schemeClr val="accent1"/>
                </a:solidFill>
              </a:rPr>
              <a:t>原作</a:t>
            </a:r>
          </a:p>
        </p:txBody>
      </p:sp>
      <p:grpSp>
        <p:nvGrpSpPr>
          <p:cNvPr id="193599" name="Group 63"/>
          <p:cNvGrpSpPr>
            <a:grpSpLocks/>
          </p:cNvGrpSpPr>
          <p:nvPr/>
        </p:nvGrpSpPr>
        <p:grpSpPr bwMode="auto">
          <a:xfrm>
            <a:off x="2427288" y="1773238"/>
            <a:ext cx="1079500" cy="1439862"/>
            <a:chOff x="2472" y="981"/>
            <a:chExt cx="998" cy="1179"/>
          </a:xfrm>
        </p:grpSpPr>
        <p:sp>
          <p:nvSpPr>
            <p:cNvPr id="193541" name="Rectangle 5"/>
            <p:cNvSpPr>
              <a:spLocks noChangeArrowheads="1"/>
            </p:cNvSpPr>
            <p:nvPr/>
          </p:nvSpPr>
          <p:spPr bwMode="auto">
            <a:xfrm>
              <a:off x="2653" y="1162"/>
              <a:ext cx="817" cy="99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2" name="Rectangle 6"/>
            <p:cNvSpPr>
              <a:spLocks noChangeArrowheads="1"/>
            </p:cNvSpPr>
            <p:nvPr/>
          </p:nvSpPr>
          <p:spPr bwMode="auto">
            <a:xfrm>
              <a:off x="2562" y="1071"/>
              <a:ext cx="817" cy="99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3" name="Rectangle 7"/>
            <p:cNvSpPr>
              <a:spLocks noChangeArrowheads="1"/>
            </p:cNvSpPr>
            <p:nvPr/>
          </p:nvSpPr>
          <p:spPr bwMode="auto">
            <a:xfrm>
              <a:off x="2472" y="981"/>
              <a:ext cx="817" cy="99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ja-JP" altLang="ja-JP" sz="1600"/>
            </a:p>
          </p:txBody>
        </p:sp>
        <p:sp>
          <p:nvSpPr>
            <p:cNvPr id="193544" name="Rectangle 8"/>
            <p:cNvSpPr>
              <a:spLocks noChangeArrowheads="1"/>
            </p:cNvSpPr>
            <p:nvPr/>
          </p:nvSpPr>
          <p:spPr bwMode="auto">
            <a:xfrm>
              <a:off x="2562" y="1026"/>
              <a:ext cx="273" cy="18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5" name="Rectangle 9"/>
            <p:cNvSpPr>
              <a:spLocks noChangeArrowheads="1"/>
            </p:cNvSpPr>
            <p:nvPr/>
          </p:nvSpPr>
          <p:spPr bwMode="auto">
            <a:xfrm>
              <a:off x="2562" y="1208"/>
              <a:ext cx="273" cy="18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6" name="Rectangle 10"/>
            <p:cNvSpPr>
              <a:spLocks noChangeArrowheads="1"/>
            </p:cNvSpPr>
            <p:nvPr/>
          </p:nvSpPr>
          <p:spPr bwMode="auto">
            <a:xfrm>
              <a:off x="2562" y="1389"/>
              <a:ext cx="273" cy="18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7" name="Rectangle 11"/>
            <p:cNvSpPr>
              <a:spLocks noChangeArrowheads="1"/>
            </p:cNvSpPr>
            <p:nvPr/>
          </p:nvSpPr>
          <p:spPr bwMode="auto">
            <a:xfrm>
              <a:off x="2562" y="1571"/>
              <a:ext cx="273" cy="18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8" name="Rectangle 12"/>
            <p:cNvSpPr>
              <a:spLocks noChangeArrowheads="1"/>
            </p:cNvSpPr>
            <p:nvPr/>
          </p:nvSpPr>
          <p:spPr bwMode="auto">
            <a:xfrm>
              <a:off x="2562" y="1753"/>
              <a:ext cx="273" cy="18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49" name="Rectangle 13"/>
            <p:cNvSpPr>
              <a:spLocks noChangeArrowheads="1"/>
            </p:cNvSpPr>
            <p:nvPr/>
          </p:nvSpPr>
          <p:spPr bwMode="auto">
            <a:xfrm>
              <a:off x="2880" y="1026"/>
              <a:ext cx="317" cy="90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93550" name="Text Box 14"/>
          <p:cNvSpPr txBox="1">
            <a:spLocks noChangeArrowheads="1"/>
          </p:cNvSpPr>
          <p:nvPr/>
        </p:nvSpPr>
        <p:spPr bwMode="auto">
          <a:xfrm>
            <a:off x="2427288" y="1412875"/>
            <a:ext cx="1079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1600"/>
              <a:t>絵コンテ</a:t>
            </a:r>
          </a:p>
        </p:txBody>
      </p:sp>
      <p:grpSp>
        <p:nvGrpSpPr>
          <p:cNvPr id="193600" name="Group 64"/>
          <p:cNvGrpSpPr>
            <a:grpSpLocks/>
          </p:cNvGrpSpPr>
          <p:nvPr/>
        </p:nvGrpSpPr>
        <p:grpSpPr bwMode="auto">
          <a:xfrm>
            <a:off x="3146425" y="4029075"/>
            <a:ext cx="1079500" cy="1439863"/>
            <a:chOff x="3244" y="2705"/>
            <a:chExt cx="998" cy="1179"/>
          </a:xfrm>
        </p:grpSpPr>
        <p:sp>
          <p:nvSpPr>
            <p:cNvPr id="193551" name="Rectangle 15"/>
            <p:cNvSpPr>
              <a:spLocks noChangeArrowheads="1"/>
            </p:cNvSpPr>
            <p:nvPr/>
          </p:nvSpPr>
          <p:spPr bwMode="auto">
            <a:xfrm>
              <a:off x="3425" y="2886"/>
              <a:ext cx="817" cy="99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52" name="Rectangle 16"/>
            <p:cNvSpPr>
              <a:spLocks noChangeArrowheads="1"/>
            </p:cNvSpPr>
            <p:nvPr/>
          </p:nvSpPr>
          <p:spPr bwMode="auto">
            <a:xfrm>
              <a:off x="3334" y="2795"/>
              <a:ext cx="817" cy="99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53" name="Rectangle 17"/>
            <p:cNvSpPr>
              <a:spLocks noChangeArrowheads="1"/>
            </p:cNvSpPr>
            <p:nvPr/>
          </p:nvSpPr>
          <p:spPr bwMode="auto">
            <a:xfrm>
              <a:off x="3244" y="2705"/>
              <a:ext cx="817" cy="99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ja-JP" altLang="ja-JP" sz="1600"/>
            </a:p>
          </p:txBody>
        </p:sp>
        <p:sp>
          <p:nvSpPr>
            <p:cNvPr id="193554" name="Rectangle 18"/>
            <p:cNvSpPr>
              <a:spLocks noChangeArrowheads="1"/>
            </p:cNvSpPr>
            <p:nvPr/>
          </p:nvSpPr>
          <p:spPr bwMode="auto">
            <a:xfrm>
              <a:off x="3334" y="2750"/>
              <a:ext cx="363" cy="27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55" name="Rectangle 19"/>
            <p:cNvSpPr>
              <a:spLocks noChangeArrowheads="1"/>
            </p:cNvSpPr>
            <p:nvPr/>
          </p:nvSpPr>
          <p:spPr bwMode="auto">
            <a:xfrm>
              <a:off x="3334" y="3068"/>
              <a:ext cx="363" cy="27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56" name="Rectangle 20"/>
            <p:cNvSpPr>
              <a:spLocks noChangeArrowheads="1"/>
            </p:cNvSpPr>
            <p:nvPr/>
          </p:nvSpPr>
          <p:spPr bwMode="auto">
            <a:xfrm>
              <a:off x="3334" y="3385"/>
              <a:ext cx="363" cy="27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93560" name="Text Box 24"/>
          <p:cNvSpPr txBox="1">
            <a:spLocks noChangeArrowheads="1"/>
          </p:cNvSpPr>
          <p:nvPr/>
        </p:nvSpPr>
        <p:spPr bwMode="auto">
          <a:xfrm>
            <a:off x="3074988" y="5468938"/>
            <a:ext cx="13668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1600"/>
              <a:t>パーツリスト</a:t>
            </a:r>
          </a:p>
        </p:txBody>
      </p:sp>
      <p:grpSp>
        <p:nvGrpSpPr>
          <p:cNvPr id="193598" name="Group 62"/>
          <p:cNvGrpSpPr>
            <a:grpSpLocks/>
          </p:cNvGrpSpPr>
          <p:nvPr/>
        </p:nvGrpSpPr>
        <p:grpSpPr bwMode="auto">
          <a:xfrm>
            <a:off x="700088" y="2636838"/>
            <a:ext cx="1079500" cy="1439862"/>
            <a:chOff x="1111" y="1360"/>
            <a:chExt cx="862" cy="1027"/>
          </a:xfrm>
        </p:grpSpPr>
        <p:sp>
          <p:nvSpPr>
            <p:cNvPr id="193561" name="Rectangle 25"/>
            <p:cNvSpPr>
              <a:spLocks noChangeArrowheads="1"/>
            </p:cNvSpPr>
            <p:nvPr/>
          </p:nvSpPr>
          <p:spPr bwMode="auto">
            <a:xfrm>
              <a:off x="1267" y="1517"/>
              <a:ext cx="706" cy="87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62" name="Rectangle 26"/>
            <p:cNvSpPr>
              <a:spLocks noChangeArrowheads="1"/>
            </p:cNvSpPr>
            <p:nvPr/>
          </p:nvSpPr>
          <p:spPr bwMode="auto">
            <a:xfrm>
              <a:off x="1189" y="1438"/>
              <a:ext cx="705" cy="87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563" name="Rectangle 27"/>
            <p:cNvSpPr>
              <a:spLocks noChangeArrowheads="1"/>
            </p:cNvSpPr>
            <p:nvPr/>
          </p:nvSpPr>
          <p:spPr bwMode="auto">
            <a:xfrm>
              <a:off x="1111" y="1360"/>
              <a:ext cx="706" cy="86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ja-JP" altLang="ja-JP" sz="1600"/>
            </a:p>
          </p:txBody>
        </p:sp>
        <p:grpSp>
          <p:nvGrpSpPr>
            <p:cNvPr id="193569" name="Group 33"/>
            <p:cNvGrpSpPr>
              <a:grpSpLocks/>
            </p:cNvGrpSpPr>
            <p:nvPr/>
          </p:nvGrpSpPr>
          <p:grpSpPr bwMode="auto">
            <a:xfrm>
              <a:off x="1190" y="1439"/>
              <a:ext cx="444" cy="39"/>
              <a:chOff x="3833" y="2501"/>
              <a:chExt cx="515" cy="45"/>
            </a:xfrm>
          </p:grpSpPr>
          <p:sp>
            <p:nvSpPr>
              <p:cNvPr id="193567" name="Line 31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68" name="Oval 32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70" name="Group 34"/>
            <p:cNvGrpSpPr>
              <a:grpSpLocks/>
            </p:cNvGrpSpPr>
            <p:nvPr/>
          </p:nvGrpSpPr>
          <p:grpSpPr bwMode="auto">
            <a:xfrm>
              <a:off x="1190" y="1676"/>
              <a:ext cx="444" cy="39"/>
              <a:chOff x="3833" y="2501"/>
              <a:chExt cx="515" cy="45"/>
            </a:xfrm>
          </p:grpSpPr>
          <p:sp>
            <p:nvSpPr>
              <p:cNvPr id="193571" name="Line 35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72" name="Oval 36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73" name="Group 37"/>
            <p:cNvGrpSpPr>
              <a:grpSpLocks/>
            </p:cNvGrpSpPr>
            <p:nvPr/>
          </p:nvGrpSpPr>
          <p:grpSpPr bwMode="auto">
            <a:xfrm>
              <a:off x="1190" y="1913"/>
              <a:ext cx="444" cy="39"/>
              <a:chOff x="3833" y="2501"/>
              <a:chExt cx="515" cy="45"/>
            </a:xfrm>
          </p:grpSpPr>
          <p:sp>
            <p:nvSpPr>
              <p:cNvPr id="193574" name="Line 38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75" name="Oval 39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76" name="Group 40"/>
            <p:cNvGrpSpPr>
              <a:grpSpLocks/>
            </p:cNvGrpSpPr>
            <p:nvPr/>
          </p:nvGrpSpPr>
          <p:grpSpPr bwMode="auto">
            <a:xfrm>
              <a:off x="1228" y="1518"/>
              <a:ext cx="445" cy="40"/>
              <a:chOff x="3833" y="2501"/>
              <a:chExt cx="515" cy="45"/>
            </a:xfrm>
          </p:grpSpPr>
          <p:sp>
            <p:nvSpPr>
              <p:cNvPr id="193577" name="Line 41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78" name="Oval 42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79" name="Group 43"/>
            <p:cNvGrpSpPr>
              <a:grpSpLocks/>
            </p:cNvGrpSpPr>
            <p:nvPr/>
          </p:nvGrpSpPr>
          <p:grpSpPr bwMode="auto">
            <a:xfrm>
              <a:off x="1228" y="1597"/>
              <a:ext cx="445" cy="39"/>
              <a:chOff x="3833" y="2501"/>
              <a:chExt cx="515" cy="45"/>
            </a:xfrm>
          </p:grpSpPr>
          <p:sp>
            <p:nvSpPr>
              <p:cNvPr id="193580" name="Line 44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81" name="Oval 45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82" name="Group 46"/>
            <p:cNvGrpSpPr>
              <a:grpSpLocks/>
            </p:cNvGrpSpPr>
            <p:nvPr/>
          </p:nvGrpSpPr>
          <p:grpSpPr bwMode="auto">
            <a:xfrm>
              <a:off x="1228" y="1755"/>
              <a:ext cx="445" cy="40"/>
              <a:chOff x="3833" y="2501"/>
              <a:chExt cx="515" cy="45"/>
            </a:xfrm>
          </p:grpSpPr>
          <p:sp>
            <p:nvSpPr>
              <p:cNvPr id="193583" name="Line 47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84" name="Oval 48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85" name="Group 49"/>
            <p:cNvGrpSpPr>
              <a:grpSpLocks/>
            </p:cNvGrpSpPr>
            <p:nvPr/>
          </p:nvGrpSpPr>
          <p:grpSpPr bwMode="auto">
            <a:xfrm>
              <a:off x="1228" y="1834"/>
              <a:ext cx="445" cy="39"/>
              <a:chOff x="3833" y="2501"/>
              <a:chExt cx="515" cy="45"/>
            </a:xfrm>
          </p:grpSpPr>
          <p:sp>
            <p:nvSpPr>
              <p:cNvPr id="193586" name="Line 50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87" name="Oval 51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88" name="Group 52"/>
            <p:cNvGrpSpPr>
              <a:grpSpLocks/>
            </p:cNvGrpSpPr>
            <p:nvPr/>
          </p:nvGrpSpPr>
          <p:grpSpPr bwMode="auto">
            <a:xfrm>
              <a:off x="1228" y="1992"/>
              <a:ext cx="445" cy="40"/>
              <a:chOff x="3833" y="2501"/>
              <a:chExt cx="515" cy="45"/>
            </a:xfrm>
          </p:grpSpPr>
          <p:sp>
            <p:nvSpPr>
              <p:cNvPr id="193589" name="Line 53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90" name="Oval 54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grpSp>
          <p:nvGrpSpPr>
            <p:cNvPr id="193591" name="Group 55"/>
            <p:cNvGrpSpPr>
              <a:grpSpLocks/>
            </p:cNvGrpSpPr>
            <p:nvPr/>
          </p:nvGrpSpPr>
          <p:grpSpPr bwMode="auto">
            <a:xfrm>
              <a:off x="1228" y="2071"/>
              <a:ext cx="445" cy="39"/>
              <a:chOff x="3833" y="2501"/>
              <a:chExt cx="515" cy="45"/>
            </a:xfrm>
          </p:grpSpPr>
          <p:sp>
            <p:nvSpPr>
              <p:cNvPr id="193592" name="Line 56"/>
              <p:cNvSpPr>
                <a:spLocks noChangeShapeType="1"/>
              </p:cNvSpPr>
              <p:nvPr/>
            </p:nvSpPr>
            <p:spPr bwMode="auto">
              <a:xfrm>
                <a:off x="3894" y="2523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3593" name="Oval 57"/>
              <p:cNvSpPr>
                <a:spLocks noChangeArrowheads="1"/>
              </p:cNvSpPr>
              <p:nvPr/>
            </p:nvSpPr>
            <p:spPr bwMode="auto">
              <a:xfrm>
                <a:off x="3833" y="250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193594" name="Text Box 58"/>
          <p:cNvSpPr txBox="1">
            <a:spLocks noChangeArrowheads="1"/>
          </p:cNvSpPr>
          <p:nvPr/>
        </p:nvSpPr>
        <p:spPr bwMode="auto">
          <a:xfrm>
            <a:off x="700088" y="2276475"/>
            <a:ext cx="1079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1600"/>
              <a:t>シナリオ</a:t>
            </a:r>
          </a:p>
        </p:txBody>
      </p:sp>
      <p:grpSp>
        <p:nvGrpSpPr>
          <p:cNvPr id="193610" name="Group 74"/>
          <p:cNvGrpSpPr>
            <a:grpSpLocks/>
          </p:cNvGrpSpPr>
          <p:nvPr/>
        </p:nvGrpSpPr>
        <p:grpSpPr bwMode="auto">
          <a:xfrm>
            <a:off x="4730750" y="4149725"/>
            <a:ext cx="863600" cy="1152525"/>
            <a:chOff x="3696" y="2750"/>
            <a:chExt cx="544" cy="726"/>
          </a:xfrm>
        </p:grpSpPr>
        <p:sp>
          <p:nvSpPr>
            <p:cNvPr id="193601" name="AutoShape 65"/>
            <p:cNvSpPr>
              <a:spLocks noChangeArrowheads="1"/>
            </p:cNvSpPr>
            <p:nvPr/>
          </p:nvSpPr>
          <p:spPr bwMode="auto">
            <a:xfrm>
              <a:off x="3968" y="2840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2" name="AutoShape 66"/>
            <p:cNvSpPr>
              <a:spLocks noChangeArrowheads="1"/>
            </p:cNvSpPr>
            <p:nvPr/>
          </p:nvSpPr>
          <p:spPr bwMode="auto">
            <a:xfrm>
              <a:off x="3968" y="3067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3" name="AutoShape 67"/>
            <p:cNvSpPr>
              <a:spLocks noChangeArrowheads="1"/>
            </p:cNvSpPr>
            <p:nvPr/>
          </p:nvSpPr>
          <p:spPr bwMode="auto">
            <a:xfrm>
              <a:off x="3968" y="3294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4" name="AutoShape 68"/>
            <p:cNvSpPr>
              <a:spLocks noChangeArrowheads="1"/>
            </p:cNvSpPr>
            <p:nvPr/>
          </p:nvSpPr>
          <p:spPr bwMode="auto">
            <a:xfrm>
              <a:off x="3832" y="2795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5" name="AutoShape 69"/>
            <p:cNvSpPr>
              <a:spLocks noChangeArrowheads="1"/>
            </p:cNvSpPr>
            <p:nvPr/>
          </p:nvSpPr>
          <p:spPr bwMode="auto">
            <a:xfrm>
              <a:off x="3832" y="3022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6" name="AutoShape 70"/>
            <p:cNvSpPr>
              <a:spLocks noChangeArrowheads="1"/>
            </p:cNvSpPr>
            <p:nvPr/>
          </p:nvSpPr>
          <p:spPr bwMode="auto">
            <a:xfrm>
              <a:off x="3832" y="3249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7" name="AutoShape 71"/>
            <p:cNvSpPr>
              <a:spLocks noChangeArrowheads="1"/>
            </p:cNvSpPr>
            <p:nvPr/>
          </p:nvSpPr>
          <p:spPr bwMode="auto">
            <a:xfrm>
              <a:off x="3696" y="2750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8" name="AutoShape 72"/>
            <p:cNvSpPr>
              <a:spLocks noChangeArrowheads="1"/>
            </p:cNvSpPr>
            <p:nvPr/>
          </p:nvSpPr>
          <p:spPr bwMode="auto">
            <a:xfrm>
              <a:off x="3696" y="2977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09" name="AutoShape 73"/>
            <p:cNvSpPr>
              <a:spLocks noChangeArrowheads="1"/>
            </p:cNvSpPr>
            <p:nvPr/>
          </p:nvSpPr>
          <p:spPr bwMode="auto">
            <a:xfrm>
              <a:off x="3696" y="3204"/>
              <a:ext cx="272" cy="182"/>
            </a:xfrm>
            <a:prstGeom prst="can">
              <a:avLst>
                <a:gd name="adj" fmla="val 25000"/>
              </a:avLst>
            </a:prstGeom>
            <a:solidFill>
              <a:schemeClr val="tx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93630" name="AutoShape 94"/>
          <p:cNvSpPr>
            <a:spLocks noChangeArrowheads="1"/>
          </p:cNvSpPr>
          <p:nvPr/>
        </p:nvSpPr>
        <p:spPr bwMode="auto">
          <a:xfrm>
            <a:off x="7789863" y="4941888"/>
            <a:ext cx="936625" cy="936625"/>
          </a:xfrm>
          <a:prstGeom prst="flowChartMagneticTape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ja-JP" altLang="en-US" sz="1600">
                <a:solidFill>
                  <a:schemeClr val="accent1"/>
                </a:solidFill>
              </a:rPr>
              <a:t>ムービー</a:t>
            </a:r>
          </a:p>
        </p:txBody>
      </p:sp>
      <p:sp>
        <p:nvSpPr>
          <p:cNvPr id="193638" name="Text Box 102"/>
          <p:cNvSpPr txBox="1">
            <a:spLocks noChangeArrowheads="1"/>
          </p:cNvSpPr>
          <p:nvPr/>
        </p:nvSpPr>
        <p:spPr bwMode="auto">
          <a:xfrm>
            <a:off x="4659313" y="5468938"/>
            <a:ext cx="20161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1600"/>
              <a:t>オブジェクトファイル</a:t>
            </a:r>
          </a:p>
        </p:txBody>
      </p:sp>
      <p:sp>
        <p:nvSpPr>
          <p:cNvPr id="193639" name="Text Box 103"/>
          <p:cNvSpPr txBox="1">
            <a:spLocks noChangeArrowheads="1"/>
          </p:cNvSpPr>
          <p:nvPr/>
        </p:nvSpPr>
        <p:spPr bwMode="auto">
          <a:xfrm>
            <a:off x="5378450" y="1412875"/>
            <a:ext cx="1439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1600"/>
              <a:t>シーンファイル</a:t>
            </a:r>
          </a:p>
        </p:txBody>
      </p:sp>
      <p:grpSp>
        <p:nvGrpSpPr>
          <p:cNvPr id="193648" name="Group 112"/>
          <p:cNvGrpSpPr>
            <a:grpSpLocks/>
          </p:cNvGrpSpPr>
          <p:nvPr/>
        </p:nvGrpSpPr>
        <p:grpSpPr bwMode="auto">
          <a:xfrm>
            <a:off x="6853238" y="2997200"/>
            <a:ext cx="1370012" cy="1225550"/>
            <a:chOff x="4014" y="1796"/>
            <a:chExt cx="863" cy="772"/>
          </a:xfrm>
        </p:grpSpPr>
        <p:sp>
          <p:nvSpPr>
            <p:cNvPr id="193621" name="AutoShape 85"/>
            <p:cNvSpPr>
              <a:spLocks noChangeArrowheads="1"/>
            </p:cNvSpPr>
            <p:nvPr/>
          </p:nvSpPr>
          <p:spPr bwMode="auto">
            <a:xfrm>
              <a:off x="4558" y="2341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2" name="AutoShape 86"/>
            <p:cNvSpPr>
              <a:spLocks noChangeArrowheads="1"/>
            </p:cNvSpPr>
            <p:nvPr/>
          </p:nvSpPr>
          <p:spPr bwMode="auto">
            <a:xfrm>
              <a:off x="4604" y="2160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3" name="AutoShape 87"/>
            <p:cNvSpPr>
              <a:spLocks noChangeArrowheads="1"/>
            </p:cNvSpPr>
            <p:nvPr/>
          </p:nvSpPr>
          <p:spPr bwMode="auto">
            <a:xfrm>
              <a:off x="4650" y="1978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4" name="AutoShape 88"/>
            <p:cNvSpPr>
              <a:spLocks noChangeArrowheads="1"/>
            </p:cNvSpPr>
            <p:nvPr/>
          </p:nvSpPr>
          <p:spPr bwMode="auto">
            <a:xfrm>
              <a:off x="4422" y="2296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5" name="AutoShape 89"/>
            <p:cNvSpPr>
              <a:spLocks noChangeArrowheads="1"/>
            </p:cNvSpPr>
            <p:nvPr/>
          </p:nvSpPr>
          <p:spPr bwMode="auto">
            <a:xfrm>
              <a:off x="4468" y="2115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6" name="AutoShape 90"/>
            <p:cNvSpPr>
              <a:spLocks noChangeArrowheads="1"/>
            </p:cNvSpPr>
            <p:nvPr/>
          </p:nvSpPr>
          <p:spPr bwMode="auto">
            <a:xfrm>
              <a:off x="4514" y="1933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7" name="AutoShape 91"/>
            <p:cNvSpPr>
              <a:spLocks noChangeArrowheads="1"/>
            </p:cNvSpPr>
            <p:nvPr/>
          </p:nvSpPr>
          <p:spPr bwMode="auto">
            <a:xfrm>
              <a:off x="4286" y="2251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8" name="AutoShape 92"/>
            <p:cNvSpPr>
              <a:spLocks noChangeArrowheads="1"/>
            </p:cNvSpPr>
            <p:nvPr/>
          </p:nvSpPr>
          <p:spPr bwMode="auto">
            <a:xfrm>
              <a:off x="4332" y="2069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29" name="AutoShape 93"/>
            <p:cNvSpPr>
              <a:spLocks noChangeArrowheads="1"/>
            </p:cNvSpPr>
            <p:nvPr/>
          </p:nvSpPr>
          <p:spPr bwMode="auto">
            <a:xfrm>
              <a:off x="4378" y="1888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42" name="AutoShape 106"/>
            <p:cNvSpPr>
              <a:spLocks noChangeArrowheads="1"/>
            </p:cNvSpPr>
            <p:nvPr/>
          </p:nvSpPr>
          <p:spPr bwMode="auto">
            <a:xfrm>
              <a:off x="4150" y="2205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43" name="AutoShape 107"/>
            <p:cNvSpPr>
              <a:spLocks noChangeArrowheads="1"/>
            </p:cNvSpPr>
            <p:nvPr/>
          </p:nvSpPr>
          <p:spPr bwMode="auto">
            <a:xfrm>
              <a:off x="4196" y="2024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44" name="AutoShape 108"/>
            <p:cNvSpPr>
              <a:spLocks noChangeArrowheads="1"/>
            </p:cNvSpPr>
            <p:nvPr/>
          </p:nvSpPr>
          <p:spPr bwMode="auto">
            <a:xfrm>
              <a:off x="4242" y="1842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45" name="AutoShape 109"/>
            <p:cNvSpPr>
              <a:spLocks noChangeArrowheads="1"/>
            </p:cNvSpPr>
            <p:nvPr/>
          </p:nvSpPr>
          <p:spPr bwMode="auto">
            <a:xfrm>
              <a:off x="4014" y="2159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46" name="AutoShape 110"/>
            <p:cNvSpPr>
              <a:spLocks noChangeArrowheads="1"/>
            </p:cNvSpPr>
            <p:nvPr/>
          </p:nvSpPr>
          <p:spPr bwMode="auto">
            <a:xfrm>
              <a:off x="4060" y="1978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3647" name="AutoShape 111"/>
            <p:cNvSpPr>
              <a:spLocks noChangeArrowheads="1"/>
            </p:cNvSpPr>
            <p:nvPr/>
          </p:nvSpPr>
          <p:spPr bwMode="auto">
            <a:xfrm>
              <a:off x="4106" y="1796"/>
              <a:ext cx="227" cy="227"/>
            </a:xfrm>
            <a:prstGeom prst="flowChartMagneticTape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93656" name="AutoShape 120"/>
          <p:cNvSpPr>
            <a:spLocks noChangeArrowheads="1"/>
          </p:cNvSpPr>
          <p:nvPr/>
        </p:nvSpPr>
        <p:spPr bwMode="auto">
          <a:xfrm rot="972870">
            <a:off x="949325" y="4149725"/>
            <a:ext cx="431800" cy="576263"/>
          </a:xfrm>
          <a:prstGeom prst="upArrow">
            <a:avLst>
              <a:gd name="adj1" fmla="val 45593"/>
              <a:gd name="adj2" fmla="val 65807"/>
            </a:avLst>
          </a:prstGeom>
          <a:solidFill>
            <a:schemeClr val="tx2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193657" name="AutoShape 121"/>
          <p:cNvSpPr>
            <a:spLocks noChangeArrowheads="1"/>
          </p:cNvSpPr>
          <p:nvPr/>
        </p:nvSpPr>
        <p:spPr bwMode="auto">
          <a:xfrm rot="3738031">
            <a:off x="1851819" y="2204244"/>
            <a:ext cx="431800" cy="576262"/>
          </a:xfrm>
          <a:prstGeom prst="upArrow">
            <a:avLst>
              <a:gd name="adj1" fmla="val 45593"/>
              <a:gd name="adj2" fmla="val 65807"/>
            </a:avLst>
          </a:prstGeom>
          <a:solidFill>
            <a:schemeClr val="tx2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193658" name="Line 122"/>
          <p:cNvSpPr>
            <a:spLocks noChangeShapeType="1"/>
          </p:cNvSpPr>
          <p:nvPr/>
        </p:nvSpPr>
        <p:spPr bwMode="auto">
          <a:xfrm>
            <a:off x="3506788" y="4294188"/>
            <a:ext cx="1368425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59" name="Line 123"/>
          <p:cNvSpPr>
            <a:spLocks noChangeShapeType="1"/>
          </p:cNvSpPr>
          <p:nvPr/>
        </p:nvSpPr>
        <p:spPr bwMode="auto">
          <a:xfrm>
            <a:off x="3506788" y="4654550"/>
            <a:ext cx="1368425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0" name="Line 124"/>
          <p:cNvSpPr>
            <a:spLocks noChangeShapeType="1"/>
          </p:cNvSpPr>
          <p:nvPr/>
        </p:nvSpPr>
        <p:spPr bwMode="auto">
          <a:xfrm>
            <a:off x="3506788" y="5014913"/>
            <a:ext cx="1368425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1" name="Line 125"/>
          <p:cNvSpPr>
            <a:spLocks noChangeShapeType="1"/>
          </p:cNvSpPr>
          <p:nvPr/>
        </p:nvSpPr>
        <p:spPr bwMode="auto">
          <a:xfrm>
            <a:off x="2714625" y="1971675"/>
            <a:ext cx="3024188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2" name="Line 126"/>
          <p:cNvSpPr>
            <a:spLocks noChangeShapeType="1"/>
          </p:cNvSpPr>
          <p:nvPr/>
        </p:nvSpPr>
        <p:spPr bwMode="auto">
          <a:xfrm>
            <a:off x="2714625" y="2187575"/>
            <a:ext cx="3024188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3" name="Line 127"/>
          <p:cNvSpPr>
            <a:spLocks noChangeShapeType="1"/>
          </p:cNvSpPr>
          <p:nvPr/>
        </p:nvSpPr>
        <p:spPr bwMode="auto">
          <a:xfrm>
            <a:off x="2714625" y="2403475"/>
            <a:ext cx="3024188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4" name="Line 128"/>
          <p:cNvSpPr>
            <a:spLocks noChangeShapeType="1"/>
          </p:cNvSpPr>
          <p:nvPr/>
        </p:nvSpPr>
        <p:spPr bwMode="auto">
          <a:xfrm>
            <a:off x="2714625" y="2619375"/>
            <a:ext cx="3024188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5" name="Line 129"/>
          <p:cNvSpPr>
            <a:spLocks noChangeShapeType="1"/>
          </p:cNvSpPr>
          <p:nvPr/>
        </p:nvSpPr>
        <p:spPr bwMode="auto">
          <a:xfrm>
            <a:off x="2714625" y="2835275"/>
            <a:ext cx="3024188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>
            <a:outerShdw dist="53882" dir="81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3667" name="AutoShape 131"/>
          <p:cNvSpPr>
            <a:spLocks noChangeArrowheads="1"/>
          </p:cNvSpPr>
          <p:nvPr/>
        </p:nvSpPr>
        <p:spPr bwMode="auto">
          <a:xfrm rot="1437047">
            <a:off x="5700713" y="3068638"/>
            <a:ext cx="431800" cy="1223962"/>
          </a:xfrm>
          <a:prstGeom prst="upArrow">
            <a:avLst>
              <a:gd name="adj1" fmla="val 42991"/>
              <a:gd name="adj2" fmla="val 76454"/>
            </a:avLst>
          </a:prstGeom>
          <a:solidFill>
            <a:schemeClr val="tx2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193668" name="AutoShape 132"/>
          <p:cNvSpPr>
            <a:spLocks noChangeArrowheads="1"/>
          </p:cNvSpPr>
          <p:nvPr/>
        </p:nvSpPr>
        <p:spPr bwMode="auto">
          <a:xfrm rot="8720692">
            <a:off x="2892425" y="3357563"/>
            <a:ext cx="431800" cy="576262"/>
          </a:xfrm>
          <a:prstGeom prst="upArrow">
            <a:avLst>
              <a:gd name="adj1" fmla="val 45593"/>
              <a:gd name="adj2" fmla="val 65807"/>
            </a:avLst>
          </a:prstGeom>
          <a:solidFill>
            <a:schemeClr val="tx2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193669" name="AutoShape 133"/>
          <p:cNvSpPr>
            <a:spLocks noChangeArrowheads="1"/>
          </p:cNvSpPr>
          <p:nvPr/>
        </p:nvSpPr>
        <p:spPr bwMode="auto">
          <a:xfrm rot="8720692">
            <a:off x="6637338" y="2420938"/>
            <a:ext cx="431800" cy="576262"/>
          </a:xfrm>
          <a:prstGeom prst="upArrow">
            <a:avLst>
              <a:gd name="adj1" fmla="val 45593"/>
              <a:gd name="adj2" fmla="val 65807"/>
            </a:avLst>
          </a:prstGeom>
          <a:solidFill>
            <a:schemeClr val="tx2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193670" name="AutoShape 134"/>
          <p:cNvSpPr>
            <a:spLocks noChangeArrowheads="1"/>
          </p:cNvSpPr>
          <p:nvPr/>
        </p:nvSpPr>
        <p:spPr bwMode="auto">
          <a:xfrm rot="9766483">
            <a:off x="7789863" y="4292600"/>
            <a:ext cx="431800" cy="576263"/>
          </a:xfrm>
          <a:prstGeom prst="upArrow">
            <a:avLst>
              <a:gd name="adj1" fmla="val 45593"/>
              <a:gd name="adj2" fmla="val 65807"/>
            </a:avLst>
          </a:prstGeom>
          <a:solidFill>
            <a:schemeClr val="tx2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193671" name="Line 135"/>
          <p:cNvSpPr>
            <a:spLocks noChangeShapeType="1"/>
          </p:cNvSpPr>
          <p:nvPr/>
        </p:nvSpPr>
        <p:spPr bwMode="auto">
          <a:xfrm>
            <a:off x="4298950" y="1412875"/>
            <a:ext cx="0" cy="48958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93672" name="Text Box 136"/>
          <p:cNvSpPr txBox="1">
            <a:spLocks noChangeArrowheads="1"/>
          </p:cNvSpPr>
          <p:nvPr/>
        </p:nvSpPr>
        <p:spPr bwMode="auto">
          <a:xfrm>
            <a:off x="1778000" y="5949950"/>
            <a:ext cx="2087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ja-JP" altLang="en-US" b="1"/>
              <a:t>プリプロダクション</a:t>
            </a:r>
          </a:p>
        </p:txBody>
      </p:sp>
      <p:sp>
        <p:nvSpPr>
          <p:cNvPr id="193673" name="Text Box 137"/>
          <p:cNvSpPr txBox="1">
            <a:spLocks noChangeArrowheads="1"/>
          </p:cNvSpPr>
          <p:nvPr/>
        </p:nvSpPr>
        <p:spPr bwMode="auto">
          <a:xfrm>
            <a:off x="4441825" y="5949950"/>
            <a:ext cx="2087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b="1"/>
              <a:t>プロダクション</a:t>
            </a:r>
          </a:p>
        </p:txBody>
      </p:sp>
      <p:sp>
        <p:nvSpPr>
          <p:cNvPr id="193674" name="Line 138"/>
          <p:cNvSpPr>
            <a:spLocks noChangeShapeType="1"/>
          </p:cNvSpPr>
          <p:nvPr/>
        </p:nvSpPr>
        <p:spPr bwMode="auto">
          <a:xfrm flipH="1">
            <a:off x="6099175" y="4149725"/>
            <a:ext cx="2376488" cy="2159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93675" name="Text Box 139"/>
          <p:cNvSpPr txBox="1">
            <a:spLocks noChangeArrowheads="1"/>
          </p:cNvSpPr>
          <p:nvPr/>
        </p:nvSpPr>
        <p:spPr bwMode="auto">
          <a:xfrm>
            <a:off x="6459538" y="5949950"/>
            <a:ext cx="2159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b="1"/>
              <a:t>ポストプロダクション</a:t>
            </a:r>
          </a:p>
        </p:txBody>
      </p:sp>
      <p:sp>
        <p:nvSpPr>
          <p:cNvPr id="193676" name="Text Box 140"/>
          <p:cNvSpPr txBox="1">
            <a:spLocks noChangeArrowheads="1"/>
          </p:cNvSpPr>
          <p:nvPr/>
        </p:nvSpPr>
        <p:spPr bwMode="auto">
          <a:xfrm>
            <a:off x="4392613" y="3741738"/>
            <a:ext cx="109220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1600">
                <a:solidFill>
                  <a:schemeClr val="tx2"/>
                </a:solidFill>
              </a:rPr>
              <a:t>モデリング</a:t>
            </a:r>
          </a:p>
        </p:txBody>
      </p:sp>
      <p:sp>
        <p:nvSpPr>
          <p:cNvPr id="193641" name="Text Box 105"/>
          <p:cNvSpPr txBox="1">
            <a:spLocks noChangeArrowheads="1"/>
          </p:cNvSpPr>
          <p:nvPr/>
        </p:nvSpPr>
        <p:spPr bwMode="auto">
          <a:xfrm>
            <a:off x="6061075" y="4100513"/>
            <a:ext cx="18732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ja-JP" altLang="en-US" sz="1600"/>
              <a:t>ムービークリップ</a:t>
            </a:r>
          </a:p>
        </p:txBody>
      </p:sp>
      <p:sp>
        <p:nvSpPr>
          <p:cNvPr id="193677" name="Text Box 141"/>
          <p:cNvSpPr txBox="1">
            <a:spLocks noChangeArrowheads="1"/>
          </p:cNvSpPr>
          <p:nvPr/>
        </p:nvSpPr>
        <p:spPr bwMode="auto">
          <a:xfrm>
            <a:off x="4732338" y="2997200"/>
            <a:ext cx="104140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1600">
                <a:solidFill>
                  <a:schemeClr val="tx2"/>
                </a:solidFill>
              </a:rPr>
              <a:t>レイアウト</a:t>
            </a:r>
          </a:p>
        </p:txBody>
      </p:sp>
      <p:sp>
        <p:nvSpPr>
          <p:cNvPr id="193678" name="Text Box 142"/>
          <p:cNvSpPr txBox="1">
            <a:spLocks noChangeArrowheads="1"/>
          </p:cNvSpPr>
          <p:nvPr/>
        </p:nvSpPr>
        <p:spPr bwMode="auto">
          <a:xfrm>
            <a:off x="7092950" y="2565400"/>
            <a:ext cx="12509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1600">
                <a:solidFill>
                  <a:schemeClr val="tx2"/>
                </a:solidFill>
              </a:rPr>
              <a:t>レンダリング</a:t>
            </a:r>
          </a:p>
        </p:txBody>
      </p:sp>
      <p:sp>
        <p:nvSpPr>
          <p:cNvPr id="193679" name="Text Box 143"/>
          <p:cNvSpPr txBox="1">
            <a:spLocks noChangeArrowheads="1"/>
          </p:cNvSpPr>
          <p:nvPr/>
        </p:nvSpPr>
        <p:spPr bwMode="auto">
          <a:xfrm>
            <a:off x="8293100" y="4522788"/>
            <a:ext cx="600075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1600">
                <a:solidFill>
                  <a:schemeClr val="tx2"/>
                </a:solidFill>
              </a:rPr>
              <a:t>編集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0D8E-8F9C-4219-920B-DE223D2EC17E}" type="slidenum">
              <a:rPr lang="en-US" altLang="ja-JP"/>
              <a:pPr/>
              <a:t>27</a:t>
            </a:fld>
            <a:endParaRPr lang="en-US" altLang="ja-JP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注意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コンセプトを明確にせよ</a:t>
            </a:r>
          </a:p>
          <a:p>
            <a:pPr lvl="1"/>
            <a:r>
              <a:rPr lang="ja-JP" altLang="en-US"/>
              <a:t>何を表現したいか決めておくこと</a:t>
            </a:r>
          </a:p>
          <a:p>
            <a:r>
              <a:rPr lang="ja-JP" altLang="en-US"/>
              <a:t>授業時間だけでは多分完成しない</a:t>
            </a:r>
          </a:p>
          <a:p>
            <a:pPr lvl="1"/>
            <a:r>
              <a:rPr lang="ja-JP" altLang="en-US"/>
              <a:t>空き時間を活用すること</a:t>
            </a:r>
          </a:p>
          <a:p>
            <a:r>
              <a:rPr kumimoji="0" lang="ja-JP" altLang="en-US"/>
              <a:t>公開したければ他人の著作物は使わない</a:t>
            </a:r>
          </a:p>
          <a:p>
            <a:pPr lvl="1"/>
            <a:r>
              <a:rPr kumimoji="0" lang="ja-JP" altLang="en-US"/>
              <a:t>できるだけオリジナルを揃えよう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自由課題</a:t>
            </a:r>
          </a:p>
        </p:txBody>
      </p:sp>
      <p:sp>
        <p:nvSpPr>
          <p:cNvPr id="19866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F9E8-D21B-4C2B-B00A-A291960910C4}" type="slidenum">
              <a:rPr lang="en-US" altLang="ja-JP"/>
              <a:pPr/>
              <a:t>29</a:t>
            </a:fld>
            <a:endParaRPr lang="en-US" altLang="ja-JP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自由課題の制作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３人または４人のグループで行う</a:t>
            </a:r>
          </a:p>
          <a:p>
            <a:pPr lvl="1"/>
            <a:r>
              <a:rPr kumimoji="0" lang="ja-JP" altLang="en-US"/>
              <a:t>仲間が見つからなければ強制的にグループ化</a:t>
            </a:r>
          </a:p>
          <a:p>
            <a:pPr lvl="1"/>
            <a:r>
              <a:rPr kumimoji="0" lang="ja-JP" altLang="en-US"/>
              <a:t>作業分担を明確にしておくこと</a:t>
            </a:r>
          </a:p>
          <a:p>
            <a:pPr lvl="1"/>
            <a:r>
              <a:rPr kumimoji="0" lang="ja-JP" altLang="en-US"/>
              <a:t>サボっている人は当然減点する</a:t>
            </a:r>
          </a:p>
          <a:p>
            <a:r>
              <a:rPr kumimoji="0" lang="ja-JP" altLang="en-US"/>
              <a:t>最後に全員で鑑賞会を行う</a:t>
            </a:r>
          </a:p>
          <a:p>
            <a:pPr lvl="1"/>
            <a:r>
              <a:rPr kumimoji="0" lang="ja-JP" altLang="en-US"/>
              <a:t>学生相互による評価（採点）も行う</a:t>
            </a:r>
          </a:p>
          <a:p>
            <a:pPr lvl="1"/>
            <a:r>
              <a:rPr kumimoji="0" lang="ja-JP" altLang="en-US"/>
              <a:t>鑑賞会には受講者以外の参加も募る</a:t>
            </a:r>
          </a:p>
          <a:p>
            <a:r>
              <a:rPr kumimoji="0" lang="ja-JP" altLang="en-US"/>
              <a:t>優秀作品は学外公開する</a:t>
            </a:r>
          </a:p>
          <a:p>
            <a:pPr lvl="1"/>
            <a:r>
              <a:rPr kumimoji="0" lang="ja-JP" altLang="en-US"/>
              <a:t>公開できるように素材の著作権等に注意すること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822D-C503-4D59-B97A-325A7FB4406F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テーマについて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テーマは</a:t>
            </a:r>
            <a:r>
              <a:rPr lang="en-US" altLang="ja-JP"/>
              <a:t>CG</a:t>
            </a:r>
            <a:r>
              <a:rPr lang="ja-JP" altLang="en-US"/>
              <a:t>ムービー制作に限らない</a:t>
            </a:r>
          </a:p>
          <a:p>
            <a:pPr lvl="1"/>
            <a:r>
              <a:rPr kumimoji="0" lang="en-US" altLang="ja-JP"/>
              <a:t>CG</a:t>
            </a:r>
            <a:r>
              <a:rPr kumimoji="0" lang="ja-JP" altLang="en-US"/>
              <a:t>ムービー</a:t>
            </a:r>
          </a:p>
          <a:p>
            <a:pPr lvl="1"/>
            <a:r>
              <a:rPr kumimoji="0" lang="ja-JP" altLang="en-US"/>
              <a:t>撮影したビデオを編集した作品</a:t>
            </a:r>
          </a:p>
          <a:p>
            <a:pPr lvl="1"/>
            <a:r>
              <a:rPr kumimoji="0" lang="en-US" altLang="ja-JP"/>
              <a:t>Flash </a:t>
            </a:r>
            <a:r>
              <a:rPr kumimoji="0" lang="ja-JP" altLang="en-US"/>
              <a:t>を使ったコンテンツ</a:t>
            </a:r>
          </a:p>
          <a:p>
            <a:pPr lvl="1"/>
            <a:r>
              <a:rPr kumimoji="0" lang="ja-JP" altLang="en-US"/>
              <a:t>その他，</a:t>
            </a:r>
            <a:r>
              <a:rPr kumimoji="0" lang="en-US" altLang="ja-JP"/>
              <a:t>Web</a:t>
            </a:r>
            <a:r>
              <a:rPr kumimoji="0" lang="ja-JP" altLang="en-US"/>
              <a:t>サイト，プログラム等でも可</a:t>
            </a:r>
          </a:p>
          <a:p>
            <a:r>
              <a:rPr kumimoji="0" lang="ja-JP" altLang="en-US"/>
              <a:t>企画書は必須</a:t>
            </a:r>
          </a:p>
          <a:p>
            <a:pPr lvl="1"/>
            <a:r>
              <a:rPr kumimoji="0" lang="ja-JP" altLang="en-US"/>
              <a:t>企画書と作品の提出をもって単位を認定</a:t>
            </a:r>
          </a:p>
          <a:p>
            <a:pPr lvl="2"/>
            <a:r>
              <a:rPr kumimoji="0" lang="ja-JP" altLang="en-US"/>
              <a:t>いい加減な企画書は不受理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mde">
      <a:dk1>
        <a:srgbClr val="393939"/>
      </a:dk1>
      <a:lt1>
        <a:srgbClr val="FFFFFF"/>
      </a:lt1>
      <a:dk2>
        <a:srgbClr val="5F5F5F"/>
      </a:dk2>
      <a:lt2>
        <a:srgbClr val="FFCC00"/>
      </a:lt2>
      <a:accent1>
        <a:srgbClr val="4D4D4D"/>
      </a:accent1>
      <a:accent2>
        <a:srgbClr val="FF3300"/>
      </a:accent2>
      <a:accent3>
        <a:srgbClr val="EE8D0C"/>
      </a:accent3>
      <a:accent4>
        <a:srgbClr val="DADADA"/>
      </a:accent4>
      <a:accent5>
        <a:srgbClr val="B2B2B2"/>
      </a:accent5>
      <a:accent6>
        <a:srgbClr val="E72D00"/>
      </a:accent6>
      <a:hlink>
        <a:srgbClr val="FF6600"/>
      </a:hlink>
      <a:folHlink>
        <a:srgbClr val="D456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3">
        <a:dk1>
          <a:srgbClr val="0033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4">
        <a:dk1>
          <a:srgbClr val="003300"/>
        </a:dk1>
        <a:lt1>
          <a:srgbClr val="FFFFFF"/>
        </a:lt1>
        <a:dk2>
          <a:srgbClr val="0033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5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777777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DBDBD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6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4D4D4D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2B2B2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1829</Words>
  <Application>Microsoft Office PowerPoint</Application>
  <PresentationFormat>画面に合わせる (4:3)</PresentationFormat>
  <Paragraphs>360</Paragraphs>
  <Slides>30</Slides>
  <Notes>29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1" baseType="lpstr">
      <vt:lpstr>標準デザイン</vt:lpstr>
      <vt:lpstr>概要説明</vt:lpstr>
      <vt:lpstr>演習内容</vt:lpstr>
      <vt:lpstr>「作品」制作実習の意義</vt:lpstr>
      <vt:lpstr>コンテンツ制作系求人の特徴</vt:lpstr>
      <vt:lpstr>３次元ＣＧムービー制作を題材にした理由</vt:lpstr>
      <vt:lpstr>3DCGムービー制作時の注意点</vt:lpstr>
      <vt:lpstr>清涼飲料水の１５秒CMの制作</vt:lpstr>
      <vt:lpstr>テーマについて</vt:lpstr>
      <vt:lpstr>コンテンツ制作のステップ</vt:lpstr>
      <vt:lpstr>プリプロダクション</vt:lpstr>
      <vt:lpstr>企画のステップ</vt:lpstr>
      <vt:lpstr>コンセプト立案</vt:lpstr>
      <vt:lpstr>コンセプト立案：ステップ１</vt:lpstr>
      <vt:lpstr>コンセプト立案：ステップ２</vt:lpstr>
      <vt:lpstr>コンセプト立案：ステップ３</vt:lpstr>
      <vt:lpstr>シナリオ執筆</vt:lpstr>
      <vt:lpstr>シーンとショット</vt:lpstr>
      <vt:lpstr>課題作品の構成例</vt:lpstr>
      <vt:lpstr>シナリオ執筆：ステップ１</vt:lpstr>
      <vt:lpstr>シナリオ執筆：ステップ２</vt:lpstr>
      <vt:lpstr>シナリオ執筆：ステップ３</vt:lpstr>
      <vt:lpstr>絵コンテの作成</vt:lpstr>
      <vt:lpstr>演習用絵コンテシートの使い方</vt:lpstr>
      <vt:lpstr>パーツリストの作成</vt:lpstr>
      <vt:lpstr>演習用パーツリストの使い方</vt:lpstr>
      <vt:lpstr>課題制作のワークフロー</vt:lpstr>
      <vt:lpstr>注意</vt:lpstr>
      <vt:lpstr>自由課題</vt:lpstr>
      <vt:lpstr>自由課題の制作</vt:lpstr>
      <vt:lpstr>テーマについて</vt:lpstr>
    </vt:vector>
  </TitlesOfParts>
  <Company>和歌山大学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モデリング</dc:title>
  <dc:creator>床井浩平</dc:creator>
  <cp:lastModifiedBy>Kohe Tokoi</cp:lastModifiedBy>
  <cp:revision>124</cp:revision>
  <dcterms:created xsi:type="dcterms:W3CDTF">2003-10-06T09:37:19Z</dcterms:created>
  <dcterms:modified xsi:type="dcterms:W3CDTF">2010-09-05T05:12:44Z</dcterms:modified>
</cp:coreProperties>
</file>