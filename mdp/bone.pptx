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375" r:id="rId2"/>
    <p:sldId id="376" r:id="rId3"/>
    <p:sldId id="432" r:id="rId4"/>
    <p:sldId id="377" r:id="rId5"/>
    <p:sldId id="378" r:id="rId6"/>
    <p:sldId id="379" r:id="rId7"/>
    <p:sldId id="380" r:id="rId8"/>
    <p:sldId id="381" r:id="rId9"/>
    <p:sldId id="382" r:id="rId10"/>
    <p:sldId id="433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1" r:id="rId19"/>
    <p:sldId id="392" r:id="rId20"/>
    <p:sldId id="393" r:id="rId21"/>
    <p:sldId id="394" r:id="rId22"/>
    <p:sldId id="435" r:id="rId23"/>
    <p:sldId id="434" r:id="rId24"/>
    <p:sldId id="397" r:id="rId25"/>
    <p:sldId id="399" r:id="rId26"/>
    <p:sldId id="400" r:id="rId27"/>
    <p:sldId id="440" r:id="rId28"/>
    <p:sldId id="441" r:id="rId29"/>
    <p:sldId id="442" r:id="rId30"/>
    <p:sldId id="443" r:id="rId31"/>
    <p:sldId id="439" r:id="rId32"/>
    <p:sldId id="444" r:id="rId33"/>
    <p:sldId id="401" r:id="rId34"/>
    <p:sldId id="403" r:id="rId35"/>
    <p:sldId id="402" r:id="rId36"/>
    <p:sldId id="404" r:id="rId37"/>
    <p:sldId id="445" r:id="rId38"/>
  </p:sldIdLst>
  <p:sldSz cx="9144000" cy="6858000" type="screen4x3"/>
  <p:notesSz cx="7099300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86400" autoAdjust="0"/>
  </p:normalViewPr>
  <p:slideViewPr>
    <p:cSldViewPr snapToGrid="0" snapToObjects="1"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4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02AFEF7D-0F5B-46FE-955A-E9DFAFCB90C1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A509356-DC20-4289-9B8A-92ECC85530A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356-DC20-4289-9B8A-92ECC85530AE}" type="slidenum">
              <a:rPr lang="en-US" altLang="ja-JP" smtClean="0"/>
              <a:pPr/>
              <a:t>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356-DC20-4289-9B8A-92ECC85530AE}" type="slidenum">
              <a:rPr lang="en-US" altLang="ja-JP" smtClean="0"/>
              <a:pPr/>
              <a:t>23</a:t>
            </a:fld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3A431-F0A2-4498-9B99-4E316DD858D8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901A7-30CC-4244-AC1D-4432D3BFFCB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85F60D-2276-432A-93AB-23E94F04B36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0A245-9887-4288-A9BE-B8A98211D94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BEDCD0-E185-4EC4-AA40-082972A8A14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CAC4D-28B7-4772-B0F9-0A7907DC5E0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9A962F-ACFD-4695-9304-106CB12203C2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C234A-A3A4-44F6-A9E2-108939E62A7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30D961-CD92-47CD-8898-7EFAC029528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7E917-639C-483B-BB32-1C5372995AE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3CAC3F-40B7-4528-B482-CE15BB4749F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F32019-5BB1-42DC-BF77-A4FE45D4194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F6821D-A4AB-44FC-830E-A1899477DDC7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D885-00FC-4496-9747-38E4A6CB360F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0BD9A7-EDB6-4CAE-B7C1-E16333911A5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2095B-1B3A-4C44-B884-3F0FC938F142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82FABC-B5B1-4313-9016-AFE01A26347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04A78-9F6E-4CF8-B217-7BE16E509444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C52B8F-3663-4897-88A7-A614EF02840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C968-20D1-4E97-A7BC-79708718D6C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92838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92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A9E36-8EA1-4C07-9DC4-76E232F6669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D0640-34DB-4649-B51C-865C7FE249D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D3BBCD6A-E7DD-44D8-A45D-D5A2D3D8CA2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46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72133AB-CA0D-4CCD-8A69-49BCD064CB69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ボーンと </a:t>
            </a:r>
            <a:r>
              <a:rPr lang="en-US" altLang="ja-JP" smtClean="0"/>
              <a:t>IK </a:t>
            </a:r>
            <a:r>
              <a:rPr lang="ja-JP" altLang="en-US" smtClean="0"/>
              <a:t>の</a:t>
            </a:r>
            <a:r>
              <a:rPr lang="ja-JP" altLang="en-US" dirty="0" smtClean="0"/>
              <a:t>使い方</a:t>
            </a:r>
            <a:endParaRPr lang="ja-JP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メディアデザイン演習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「モデラー」を起動する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</a:t>
            </a:fld>
            <a:endParaRPr lang="en-US" altLang="ja-JP"/>
          </a:p>
        </p:txBody>
      </p:sp>
      <p:pic>
        <p:nvPicPr>
          <p:cNvPr id="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「カプセル」を作成する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</a:t>
            </a:fld>
            <a:endParaRPr lang="en-US" altLang="ja-JP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054658" y="1645426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「作成」のタブ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7" name="直線矢印コネクタ 6"/>
          <p:cNvCxnSpPr/>
          <p:nvPr/>
        </p:nvCxnSpPr>
        <p:spPr>
          <a:xfrm rot="16200000" flipH="1">
            <a:off x="1838634" y="142940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1501008" y="3165894"/>
            <a:ext cx="365356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「その他」から「カプセル」を選択する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10800000">
            <a:off x="1371601" y="2895588"/>
            <a:ext cx="345057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「カプセル」の設定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4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71600" y="5454924"/>
            <a:ext cx="162256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「グリッド」は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en-US" altLang="ja-JP" dirty="0" smtClean="0">
                <a:solidFill>
                  <a:schemeClr val="accent3"/>
                </a:solidFill>
              </a:rPr>
              <a:t>200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lang="en-US" altLang="ja-JP" dirty="0" smtClean="0">
                <a:solidFill>
                  <a:schemeClr val="accent3"/>
                </a:solidFill>
              </a:rPr>
              <a:t>mm </a:t>
            </a:r>
            <a:r>
              <a:rPr lang="ja-JP" altLang="en-US" dirty="0" smtClean="0">
                <a:solidFill>
                  <a:schemeClr val="accent3"/>
                </a:solidFill>
              </a:rPr>
              <a:t>くらい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5400000" flipH="1" flipV="1">
            <a:off x="1188925" y="6115204"/>
            <a:ext cx="243921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2179069" y="1728276"/>
            <a:ext cx="170110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少し左に寄せる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5400000" flipH="1" flipV="1">
            <a:off x="2856550" y="2302957"/>
            <a:ext cx="410698" cy="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3199095" y="5548845"/>
            <a:ext cx="147796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下端は </a:t>
            </a:r>
            <a:r>
              <a:rPr lang="en-US" altLang="ja-JP" dirty="0" smtClean="0">
                <a:solidFill>
                  <a:schemeClr val="accent3"/>
                </a:solidFill>
              </a:rPr>
              <a:t>Y = 0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>
            <a:off x="5596758" y="3860229"/>
            <a:ext cx="454574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6051332" y="3123153"/>
            <a:ext cx="1638910" cy="1477328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tabLst>
                <a:tab pos="1440000" algn="r"/>
              </a:tabLst>
            </a:pPr>
            <a:r>
              <a:rPr lang="en-US" altLang="ja-JP" dirty="0" smtClean="0">
                <a:solidFill>
                  <a:schemeClr val="accent3"/>
                </a:solidFill>
              </a:rPr>
              <a:t>Radius:	0.1 m</a:t>
            </a:r>
          </a:p>
          <a:p>
            <a:pPr>
              <a:tabLst>
                <a:tab pos="1440000" algn="r"/>
              </a:tabLst>
            </a:pPr>
            <a:r>
              <a:rPr kumimoji="1" lang="en-US" altLang="ja-JP" dirty="0" smtClean="0">
                <a:solidFill>
                  <a:schemeClr val="accent3"/>
                </a:solidFill>
              </a:rPr>
              <a:t>Length:	0.8 m</a:t>
            </a:r>
          </a:p>
          <a:p>
            <a:pPr>
              <a:tabLst>
                <a:tab pos="1440000" algn="r"/>
              </a:tabLst>
            </a:pPr>
            <a:r>
              <a:rPr lang="en-US" altLang="ja-JP" dirty="0" smtClean="0">
                <a:solidFill>
                  <a:schemeClr val="accent3"/>
                </a:solidFill>
              </a:rPr>
              <a:t>Sides:	16</a:t>
            </a:r>
          </a:p>
          <a:p>
            <a:pPr>
              <a:tabLst>
                <a:tab pos="1440000" algn="r"/>
              </a:tabLst>
            </a:pPr>
            <a:r>
              <a:rPr kumimoji="1" lang="en-US" altLang="ja-JP" dirty="0" smtClean="0">
                <a:solidFill>
                  <a:schemeClr val="accent3"/>
                </a:solidFill>
              </a:rPr>
              <a:t>Segments:	4</a:t>
            </a:r>
          </a:p>
          <a:p>
            <a:pPr>
              <a:tabLst>
                <a:tab pos="1440000" algn="r"/>
              </a:tabLst>
            </a:pPr>
            <a:r>
              <a:rPr lang="en-US" altLang="ja-JP" dirty="0" smtClean="0">
                <a:solidFill>
                  <a:schemeClr val="accent3"/>
                </a:solidFill>
              </a:rPr>
              <a:t>Divisions:	16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3" name="直線矢印コネクタ 22"/>
          <p:cNvCxnSpPr/>
          <p:nvPr/>
        </p:nvCxnSpPr>
        <p:spPr>
          <a:xfrm rot="5400000" flipH="1" flipV="1">
            <a:off x="3047952" y="5871282"/>
            <a:ext cx="243921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5407567" y="5823205"/>
            <a:ext cx="110799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数値入力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5" name="直線矢印コネクタ 24"/>
          <p:cNvCxnSpPr/>
          <p:nvPr/>
        </p:nvCxnSpPr>
        <p:spPr>
          <a:xfrm rot="5400000" flipH="1" flipV="1">
            <a:off x="5256424" y="6145642"/>
            <a:ext cx="243921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「カプセル</a:t>
            </a:r>
            <a:r>
              <a:rPr kumimoji="1" lang="ja-JP" altLang="en-US" dirty="0" smtClean="0"/>
              <a:t>」を確定する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5</a:t>
            </a:fld>
            <a:endParaRPr lang="en-US" altLang="ja-JP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98702" y="1895302"/>
            <a:ext cx="3703258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「スペース」か「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Enter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もう一度「カプセル」を選択する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「カプセル」をコピーする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6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076902" y="1749970"/>
            <a:ext cx="343876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「編集」から「コピー」を選択するか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Ctrl-C</a:t>
            </a:r>
            <a:r>
              <a:rPr lang="ja-JP" altLang="en-US" dirty="0" smtClean="0">
                <a:solidFill>
                  <a:schemeClr val="accent3"/>
                </a:solidFill>
              </a:rPr>
              <a:t>」をタイプする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0800000">
            <a:off x="1224404" y="1523006"/>
            <a:ext cx="525568" cy="36885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「カプセル」を貼り付ける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7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61412" y="5300002"/>
            <a:ext cx="504817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[</a:t>
            </a:r>
            <a:r>
              <a:rPr lang="ja-JP" altLang="en-US" dirty="0" smtClean="0">
                <a:solidFill>
                  <a:schemeClr val="accent3"/>
                </a:solidFill>
              </a:rPr>
              <a:t>」「</a:t>
            </a:r>
            <a:r>
              <a:rPr lang="en-US" altLang="ja-JP" dirty="0" smtClean="0">
                <a:solidFill>
                  <a:schemeClr val="accent3"/>
                </a:solidFill>
              </a:rPr>
              <a:t>]</a:t>
            </a:r>
            <a:r>
              <a:rPr lang="ja-JP" altLang="en-US" dirty="0" smtClean="0">
                <a:solidFill>
                  <a:schemeClr val="accent3"/>
                </a:solidFill>
              </a:rPr>
              <a:t>」キーを使ってグリッド間隔を </a:t>
            </a:r>
            <a:r>
              <a:rPr lang="en-US" altLang="ja-JP" dirty="0" smtClean="0">
                <a:solidFill>
                  <a:schemeClr val="accent3"/>
                </a:solidFill>
              </a:rPr>
              <a:t>1m </a:t>
            </a:r>
            <a:r>
              <a:rPr lang="ja-JP" altLang="en-US" dirty="0" smtClean="0">
                <a:solidFill>
                  <a:schemeClr val="accent3"/>
                </a:solidFill>
              </a:rPr>
              <a:t>くらいにする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5400000" flipH="1" flipV="1">
            <a:off x="1513124" y="5669334"/>
            <a:ext cx="698163" cy="69816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テキスト ボックス 8"/>
          <p:cNvSpPr txBox="1"/>
          <p:nvPr/>
        </p:nvSpPr>
        <p:spPr>
          <a:xfrm>
            <a:off x="3076902" y="1749970"/>
            <a:ext cx="487665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「編集」から「貼り付けツール」を選択する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（「貼り付け」はコピー元と同じ位置に貼り付ける）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0800000">
            <a:off x="1224405" y="1523008"/>
            <a:ext cx="525569" cy="51074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貼り付けたものを並べて配置する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8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flipV="1">
            <a:off x="3526781" y="5123790"/>
            <a:ext cx="288473" cy="24117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>
            <a:off x="3532602" y="2764790"/>
            <a:ext cx="288473" cy="24117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貼り付けを確定する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9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98702" y="1895302"/>
            <a:ext cx="491673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「スペース」か「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Enter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もう一度「編集」から「貼り付けツール」を選択する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レイヤーを切り替える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10</a:t>
            </a:fld>
            <a:endParaRPr lang="en-US" altLang="ja-JP"/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7303379" y="1391312"/>
            <a:ext cx="307418" cy="25224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7150759" y="1671144"/>
            <a:ext cx="1117919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二つ目のレイヤー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0800000" flipV="1">
            <a:off x="6537435" y="1421529"/>
            <a:ext cx="740973" cy="53339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4810592" y="1907624"/>
            <a:ext cx="213462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一つ目のレイヤーを背景にする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「スケルゴン」を作成する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11</a:t>
            </a:fld>
            <a:endParaRPr lang="en-US" altLang="ja-JP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363320" y="1645426"/>
            <a:ext cx="213712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「セットアップ」のタブ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16200000" flipH="1">
            <a:off x="4147296" y="142940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1816356" y="1645426"/>
            <a:ext cx="2176007" cy="645099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「スケルゴン作成」を選択する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flipV="1">
            <a:off x="1513124" y="2125120"/>
            <a:ext cx="303232" cy="30277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rot="5400000" flipH="1" flipV="1">
            <a:off x="3132331" y="4553816"/>
            <a:ext cx="246574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/>
          <p:cNvSpPr txBox="1"/>
          <p:nvPr/>
        </p:nvSpPr>
        <p:spPr>
          <a:xfrm>
            <a:off x="3307937" y="4346159"/>
            <a:ext cx="217399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マウスをドラッグする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「スケルゴン」を追加する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12</a:t>
            </a:fld>
            <a:endParaRPr lang="en-US" altLang="ja-JP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578876" y="3798422"/>
            <a:ext cx="370165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この辺りをクリックし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そのままドラッグして位置を調整する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6200000" flipV="1">
            <a:off x="2793275" y="4461683"/>
            <a:ext cx="249883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「スケルゴン」をさらに３本追加する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13</a:t>
            </a:fld>
            <a:endParaRPr lang="en-US" altLang="ja-JP"/>
          </a:p>
        </p:txBody>
      </p:sp>
      <p:cxnSp>
        <p:nvCxnSpPr>
          <p:cNvPr id="16" name="直線矢印コネクタ 15"/>
          <p:cNvCxnSpPr/>
          <p:nvPr/>
        </p:nvCxnSpPr>
        <p:spPr>
          <a:xfrm rot="5400000" flipH="1" flipV="1">
            <a:off x="3060576" y="584386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 rot="5400000" flipH="1" flipV="1">
            <a:off x="3060576" y="5202059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3276600" y="5017393"/>
            <a:ext cx="110799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中央付近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276600" y="5659194"/>
            <a:ext cx="110799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下端付近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5400000" flipH="1" flipV="1">
            <a:off x="6944658" y="587521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7160682" y="5690552"/>
            <a:ext cx="105028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3"/>
                </a:solidFill>
              </a:rPr>
              <a:t> +Z</a:t>
            </a:r>
            <a:r>
              <a:rPr lang="ja-JP" altLang="en-US" dirty="0" smtClean="0">
                <a:solidFill>
                  <a:schemeClr val="accent3"/>
                </a:solidFill>
              </a:rPr>
              <a:t> 方向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「スケルゴン」を確定する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14</a:t>
            </a:fld>
            <a:endParaRPr lang="en-US" altLang="ja-JP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830234" y="1655434"/>
            <a:ext cx="382508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「スペース」か「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Enter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もう一度「スケルゴン作成」を選択する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flipV="1">
            <a:off x="1513124" y="2125120"/>
            <a:ext cx="303232" cy="30277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最初の「スケルゴン」を選択する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15</a:t>
            </a:fld>
            <a:endParaRPr lang="en-US" altLang="ja-JP"/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3279510" y="4447596"/>
            <a:ext cx="646104" cy="29782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124200" y="5773236"/>
            <a:ext cx="352211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「ポリゴン」選択モードに切り替える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 flipH="1" flipV="1">
            <a:off x="3063486" y="614256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3925614" y="4745421"/>
            <a:ext cx="296747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この「スケルゴン」を選択する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「スケルゴン」を作成する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16</a:t>
            </a:fld>
            <a:endParaRPr lang="en-US" altLang="ja-JP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816356" y="1645426"/>
            <a:ext cx="2176007" cy="645099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「スケルゴン作成」を選択する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flipV="1">
            <a:off x="1513124" y="2125120"/>
            <a:ext cx="303232" cy="30277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3637258" y="3872515"/>
            <a:ext cx="370165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この辺りをクリックし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そのままドラッグして位置を調整する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 flipH="1" flipV="1">
            <a:off x="3448360" y="4455566"/>
            <a:ext cx="249883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「スケルゴン」をさらに３本追加する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17</a:t>
            </a:fld>
            <a:endParaRPr lang="en-US" altLang="ja-JP"/>
          </a:p>
        </p:txBody>
      </p:sp>
      <p:cxnSp>
        <p:nvCxnSpPr>
          <p:cNvPr id="10" name="直線矢印コネクタ 9"/>
          <p:cNvCxnSpPr/>
          <p:nvPr/>
        </p:nvCxnSpPr>
        <p:spPr>
          <a:xfrm rot="5400000" flipH="1" flipV="1">
            <a:off x="3486258" y="584386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 flipH="1" flipV="1">
            <a:off x="3486258" y="5202059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3702282" y="5017393"/>
            <a:ext cx="110799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中央付近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702282" y="5659194"/>
            <a:ext cx="110799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下端付近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5400000" flipH="1" flipV="1">
            <a:off x="6944658" y="587521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160682" y="5690552"/>
            <a:ext cx="105028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3"/>
                </a:solidFill>
              </a:rPr>
              <a:t> +Z</a:t>
            </a:r>
            <a:r>
              <a:rPr lang="ja-JP" altLang="en-US" dirty="0" smtClean="0">
                <a:solidFill>
                  <a:schemeClr val="accent3"/>
                </a:solidFill>
              </a:rPr>
              <a:t> 方向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「スケルゴン」の作成を確定する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18</a:t>
            </a:fld>
            <a:endParaRPr lang="en-US" altLang="ja-JP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830234" y="1655434"/>
            <a:ext cx="382508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「スペース」か「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Enter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もう一度「スケルゴン作成」を選択する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 flipV="1">
            <a:off x="1513124" y="2125120"/>
            <a:ext cx="303232" cy="30277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レイヤーを平坦化する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19</a:t>
            </a:fld>
            <a:endParaRPr lang="en-US" altLang="ja-JP"/>
          </a:p>
        </p:txBody>
      </p:sp>
      <p:cxnSp>
        <p:nvCxnSpPr>
          <p:cNvPr id="8" name="直線矢印コネクタ 7"/>
          <p:cNvCxnSpPr/>
          <p:nvPr/>
        </p:nvCxnSpPr>
        <p:spPr>
          <a:xfrm rot="5400000">
            <a:off x="7065229" y="1447159"/>
            <a:ext cx="307418" cy="25224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5136582" y="1732133"/>
            <a:ext cx="29845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Shift</a:t>
            </a:r>
            <a:r>
              <a:rPr lang="ja-JP" altLang="en-US" dirty="0" smtClean="0">
                <a:solidFill>
                  <a:schemeClr val="accent3"/>
                </a:solidFill>
              </a:rPr>
              <a:t>」を押しながら選択する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5400000">
            <a:off x="6977998" y="1447159"/>
            <a:ext cx="307418" cy="25224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 flipH="1" flipV="1">
            <a:off x="1501842" y="4407342"/>
            <a:ext cx="307418" cy="25224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717506" y="4058550"/>
            <a:ext cx="341907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「レイヤー平坦化」をクリック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3411867" y="1645426"/>
            <a:ext cx="163378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「ビュー」のタブ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5400000">
            <a:off x="4949396" y="142940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</a:t>
            </a:r>
            <a:r>
              <a:rPr lang="ja-JP" altLang="en-US" dirty="0" smtClean="0"/>
              <a:t>を保存する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20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V="1">
            <a:off x="1126631" y="1608425"/>
            <a:ext cx="810718" cy="43214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596157" y="4235116"/>
            <a:ext cx="318439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「ファイル」から</a:t>
            </a:r>
            <a:r>
              <a:rPr lang="ja-JP" altLang="en-US" dirty="0" smtClean="0">
                <a:solidFill>
                  <a:schemeClr val="accent3"/>
                </a:solidFill>
              </a:rPr>
              <a:t>「保存」を選ぶか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s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84177" y="1732133"/>
            <a:ext cx="2984500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レイヤーが一つになっている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>
            <a:off x="6977998" y="1447159"/>
            <a:ext cx="307418" cy="25224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「デスクトップ」か「マイドキュメント」に保存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21</a:t>
            </a:fld>
            <a:endParaRPr lang="en-US" altLang="ja-JP"/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3950986" y="4417382"/>
            <a:ext cx="216024" cy="19618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5400000">
            <a:off x="2841459" y="2975964"/>
            <a:ext cx="224551" cy="22455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358672" y="2472833"/>
            <a:ext cx="1707145" cy="1750031"/>
          </a:xfrm>
          <a:prstGeom prst="rect">
            <a:avLst/>
          </a:prstGeom>
          <a:noFill/>
          <a:effectLst>
            <a:outerShdw blurRad="25400" dist="254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「デスクトップ」や「マイドキュメント」など自分のファイルが保存可能な場所を選ぶ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6200000" flipV="1">
            <a:off x="5605440" y="4682726"/>
            <a:ext cx="224551" cy="22455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3708835" y="4548038"/>
            <a:ext cx="1724367" cy="646331"/>
          </a:xfrm>
          <a:prstGeom prst="rect">
            <a:avLst/>
          </a:prstGeom>
          <a:noFill/>
          <a:effectLst>
            <a:outerShdw blurRad="25400" dist="254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「ファイル名」を指定する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「レイアウト」を起動する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22</a:t>
            </a:fld>
            <a:endParaRPr lang="en-US" altLang="ja-JP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直線矢印コネクタ 8"/>
          <p:cNvCxnSpPr/>
          <p:nvPr/>
        </p:nvCxnSpPr>
        <p:spPr>
          <a:xfrm rot="16200000" flipV="1">
            <a:off x="7589519" y="572747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3074322" y="5114390"/>
            <a:ext cx="4966394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最初に作成するシーンのフレーム数を設定する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en-US" altLang="ja-JP" dirty="0" smtClean="0">
                <a:solidFill>
                  <a:schemeClr val="accent3"/>
                </a:solidFill>
              </a:rPr>
              <a:t>30</a:t>
            </a:r>
            <a:r>
              <a:rPr lang="ja-JP" altLang="en-US" dirty="0" smtClean="0">
                <a:solidFill>
                  <a:schemeClr val="accent3"/>
                </a:solidFill>
              </a:rPr>
              <a:t>フレーム／秒のムービーを作成するなら </a:t>
            </a:r>
            <a:r>
              <a:rPr lang="en-US" altLang="ja-JP" dirty="0" smtClean="0">
                <a:solidFill>
                  <a:schemeClr val="accent3"/>
                </a:solidFill>
              </a:rPr>
              <a:t>300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オブジェクトを配置する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23</a:t>
            </a:fld>
            <a:endParaRPr lang="en-US" altLang="ja-JP"/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矢印コネクタ 7"/>
          <p:cNvCxnSpPr/>
          <p:nvPr/>
        </p:nvCxnSpPr>
        <p:spPr>
          <a:xfrm rot="10800000">
            <a:off x="1313410" y="1421477"/>
            <a:ext cx="382386" cy="30757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10800000">
            <a:off x="2205644" y="1889764"/>
            <a:ext cx="537557" cy="53755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1521337" y="291674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723499" y="2696043"/>
            <a:ext cx="6545179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「ファイル」メニューの「開く」「オブジェクトを開く」を選択するか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「アイテム」タブの「開く」メニューの「オブジェクト」をクリックするか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+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」キーをタイプ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オブジェクト </a:t>
            </a:r>
            <a:r>
              <a:rPr lang="en-US" altLang="ja-JP" dirty="0" smtClean="0"/>
              <a:t>(LWO) </a:t>
            </a:r>
            <a:r>
              <a:rPr lang="ja-JP" altLang="en-US" dirty="0" smtClean="0"/>
              <a:t>ファイルを選択する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24</a:t>
            </a:fld>
            <a:endParaRPr lang="en-US" altLang="ja-JP"/>
          </a:p>
        </p:txBody>
      </p:sp>
      <p:cxnSp>
        <p:nvCxnSpPr>
          <p:cNvPr id="10" name="直線矢印コネクタ 9"/>
          <p:cNvCxnSpPr/>
          <p:nvPr/>
        </p:nvCxnSpPr>
        <p:spPr>
          <a:xfrm rot="16200000" flipV="1">
            <a:off x="2501639" y="245847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>
            <a:off x="5477751" y="336559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5400000" flipH="1" flipV="1">
            <a:off x="4503561" y="55382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V="1">
            <a:off x="6427411" y="5763781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922404" y="3985134"/>
            <a:ext cx="3913251" cy="646331"/>
          </a:xfrm>
          <a:prstGeom prst="rect">
            <a:avLst/>
          </a:prstGeom>
          <a:noFill/>
          <a:effectLst>
            <a:outerShdw blurRad="25400" dist="254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「デスクトップ」や「マイドキュメント」など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ファイルを保存した場所を選択する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「スケルゴン」を「ボーン」に変換する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25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46711" y="4219076"/>
            <a:ext cx="364875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「追加」の「その他」から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「スケルゴンをボーンに変換」を選ぶ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0800000">
            <a:off x="1259851" y="3658768"/>
            <a:ext cx="472696" cy="44801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 flipH="1" flipV="1">
            <a:off x="5873998" y="4324774"/>
            <a:ext cx="448014" cy="3489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6272463" y="4034410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099261" y="1645426"/>
            <a:ext cx="213712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「セットアップ」のタブ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16200000" flipH="1">
            <a:off x="2811229" y="142940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ビューを「背面」に切り替える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26</a:t>
            </a:fld>
            <a:endParaRPr lang="en-US" altLang="ja-JP"/>
          </a:p>
        </p:txBody>
      </p:sp>
      <p:cxnSp>
        <p:nvCxnSpPr>
          <p:cNvPr id="9" name="直線矢印コネクタ 8"/>
          <p:cNvCxnSpPr/>
          <p:nvPr/>
        </p:nvCxnSpPr>
        <p:spPr>
          <a:xfrm rot="16200000" flipV="1">
            <a:off x="1858348" y="1759694"/>
            <a:ext cx="537661" cy="16252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Null</a:t>
            </a:r>
            <a:r>
              <a:rPr kumimoji="1" lang="ja-JP" altLang="en-US" dirty="0" smtClean="0"/>
              <a:t>」を追加する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27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H="1">
            <a:off x="1254771" y="3352255"/>
            <a:ext cx="519275" cy="41818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1723500" y="3673642"/>
            <a:ext cx="4296301" cy="2031325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Null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</a:t>
            </a:r>
            <a:r>
              <a:rPr lang="ja-JP" altLang="en-US" dirty="0" smtClean="0">
                <a:solidFill>
                  <a:schemeClr val="accent3"/>
                </a:solidFill>
              </a:rPr>
              <a:t>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Ctrl-N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」キーをタイプ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endParaRPr lang="en-US" altLang="ja-JP" dirty="0" smtClean="0">
              <a:solidFill>
                <a:schemeClr val="accent3"/>
              </a:solidFill>
            </a:endParaRPr>
          </a:p>
          <a:p>
            <a:endParaRPr lang="en-US" altLang="ja-JP" dirty="0" smtClean="0">
              <a:solidFill>
                <a:schemeClr val="accent3"/>
              </a:solidFill>
            </a:endParaRPr>
          </a:p>
          <a:p>
            <a:endParaRPr lang="en-US" altLang="ja-JP" dirty="0" smtClean="0">
              <a:solidFill>
                <a:schemeClr val="accent3"/>
              </a:solidFill>
            </a:endParaRPr>
          </a:p>
          <a:p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Null</a:t>
            </a:r>
            <a:r>
              <a:rPr lang="ja-JP" altLang="en-US" dirty="0" smtClean="0">
                <a:solidFill>
                  <a:schemeClr val="accent3"/>
                </a:solidFill>
              </a:rPr>
              <a:t>」は大きさや形を持たないオブジェクト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249035" y="1645426"/>
            <a:ext cx="1854995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「アイテム」のタブ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16200000" flipH="1">
            <a:off x="1961003" y="142940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 rot="5400000" flipH="1" flipV="1">
            <a:off x="6884644" y="4324774"/>
            <a:ext cx="448014" cy="3489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6453394" y="3937977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もうひとつ「</a:t>
            </a:r>
            <a:r>
              <a:rPr kumimoji="1" lang="en-US" altLang="ja-JP" dirty="0" smtClean="0"/>
              <a:t>Null</a:t>
            </a:r>
            <a:r>
              <a:rPr kumimoji="1" lang="ja-JP" altLang="en-US" dirty="0" smtClean="0"/>
              <a:t>」を追加する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28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H="1">
            <a:off x="1254771" y="3352255"/>
            <a:ext cx="519275" cy="41818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1723500" y="3673642"/>
            <a:ext cx="429630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もう一度「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Null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</a:t>
            </a:r>
            <a:r>
              <a:rPr lang="ja-JP" altLang="en-US" dirty="0" smtClean="0">
                <a:solidFill>
                  <a:schemeClr val="accent3"/>
                </a:solidFill>
              </a:rPr>
              <a:t>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Ctrl-N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」キーをタイプ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5400000" flipH="1" flipV="1">
            <a:off x="6884644" y="4324774"/>
            <a:ext cx="448014" cy="34891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6453394" y="3937977"/>
            <a:ext cx="165942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OK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ビューを「左面」に切り替える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29</a:t>
            </a:fld>
            <a:endParaRPr lang="en-US" altLang="ja-JP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1560552" y="1924990"/>
            <a:ext cx="868251" cy="16252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「ボーン」を含むオブジェクトを選択する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30</a:t>
            </a:fld>
            <a:endParaRPr lang="en-US" altLang="ja-JP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1861269" y="5630938"/>
            <a:ext cx="817922" cy="65718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rot="5400000">
            <a:off x="3027023" y="5927810"/>
            <a:ext cx="434000" cy="17487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941639" y="5187074"/>
            <a:ext cx="47580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編集したいボーンを含むオブジェクトを選択する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「ボーン編集モード」に切り替える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31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43685" y="1951345"/>
            <a:ext cx="5466716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「ボーン編集」から「ボーン編集モードに入る」を選ぶか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Shift-E</a:t>
            </a:r>
            <a:r>
              <a:rPr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0800000">
            <a:off x="1448925" y="2660256"/>
            <a:ext cx="290349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Bone 03 (1)</a:t>
            </a:r>
            <a:r>
              <a:rPr kumimoji="1" lang="ja-JP" altLang="en-US" dirty="0" smtClean="0"/>
              <a:t>」を選択する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32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627954" y="2759242"/>
            <a:ext cx="254749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「ボーン編集モード」では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赤枠が表示される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5400000">
            <a:off x="7997530" y="254321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926767" y="3584616"/>
            <a:ext cx="275873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ボーンを直接クリックして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選択できる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5400000">
            <a:off x="4268922" y="2927405"/>
            <a:ext cx="735702" cy="57872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「モーションオプション」を設定する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33</a:t>
            </a:fld>
            <a:endParaRPr lang="en-US" altLang="ja-JP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651044" y="4744331"/>
            <a:ext cx="3926075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「モーションオプション」をクリックするか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m</a:t>
            </a:r>
            <a:r>
              <a:rPr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5400000" flipH="1" flipV="1">
            <a:off x="1521334" y="5358578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/>
          <p:cNvCxnSpPr/>
          <p:nvPr/>
        </p:nvCxnSpPr>
        <p:spPr>
          <a:xfrm rot="16200000" flipV="1">
            <a:off x="6174365" y="2440246"/>
            <a:ext cx="348603" cy="24865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4226771" y="2092545"/>
            <a:ext cx="212590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制御と制限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7" name="直線矢印コネクタ 26"/>
          <p:cNvCxnSpPr/>
          <p:nvPr/>
        </p:nvCxnSpPr>
        <p:spPr>
          <a:xfrm rot="5400000">
            <a:off x="5705128" y="3539717"/>
            <a:ext cx="348603" cy="24865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4315319" y="3728668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「回転」のタブ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9" name="直線矢印コネクタ 28"/>
          <p:cNvCxnSpPr/>
          <p:nvPr/>
        </p:nvCxnSpPr>
        <p:spPr>
          <a:xfrm rot="16200000" flipV="1">
            <a:off x="6445719" y="4445701"/>
            <a:ext cx="348603" cy="24865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1706678" y="4098000"/>
            <a:ext cx="500810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「ピッチ制御」に「インバースキネマティクス」を選ぶ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「</a:t>
            </a:r>
            <a:r>
              <a:rPr lang="en-US" altLang="ja-JP" dirty="0" smtClean="0"/>
              <a:t>Bone 04 (1)</a:t>
            </a:r>
            <a:r>
              <a:rPr lang="ja-JP" altLang="en-US" dirty="0" smtClean="0"/>
              <a:t>」の「モーションオプション」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34</a:t>
            </a:fld>
            <a:endParaRPr lang="en-US" altLang="ja-JP"/>
          </a:p>
        </p:txBody>
      </p:sp>
      <p:cxnSp>
        <p:nvCxnSpPr>
          <p:cNvPr id="16" name="直線矢印コネクタ 15"/>
          <p:cNvCxnSpPr/>
          <p:nvPr/>
        </p:nvCxnSpPr>
        <p:spPr>
          <a:xfrm rot="16200000" flipV="1">
            <a:off x="6445719" y="4445701"/>
            <a:ext cx="348603" cy="24865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1706678" y="4098000"/>
            <a:ext cx="500810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「ピッチ制御」に「インバースキネマティクス」を選ぶ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 rot="5400000">
            <a:off x="5317741" y="4977375"/>
            <a:ext cx="353362" cy="30480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1633332" y="5306457"/>
            <a:ext cx="4685898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ひざが反対側に曲がらないようにするため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最小</a:t>
            </a:r>
            <a:r>
              <a:rPr lang="en-US" altLang="ja-JP" dirty="0" smtClean="0">
                <a:solidFill>
                  <a:schemeClr val="accent3"/>
                </a:solidFill>
              </a:rPr>
              <a:t>:</a:t>
            </a:r>
            <a:r>
              <a:rPr lang="ja-JP" altLang="en-US" dirty="0" smtClean="0">
                <a:solidFill>
                  <a:schemeClr val="accent3"/>
                </a:solidFill>
              </a:rPr>
              <a:t> </a:t>
            </a:r>
            <a:r>
              <a:rPr lang="en-US" altLang="ja-JP" dirty="0" smtClean="0">
                <a:solidFill>
                  <a:schemeClr val="accent3"/>
                </a:solidFill>
              </a:rPr>
              <a:t>1.0°</a:t>
            </a:r>
            <a:r>
              <a:rPr lang="ja-JP" altLang="en-US" dirty="0" smtClean="0">
                <a:solidFill>
                  <a:schemeClr val="accent3"/>
                </a:solidFill>
              </a:rPr>
              <a:t>最大 </a:t>
            </a:r>
            <a:r>
              <a:rPr lang="en-US" altLang="ja-JP" dirty="0" smtClean="0">
                <a:solidFill>
                  <a:schemeClr val="accent3"/>
                </a:solidFill>
              </a:rPr>
              <a:t>120°</a:t>
            </a:r>
            <a:r>
              <a:rPr lang="ja-JP" altLang="en-US" dirty="0" smtClean="0">
                <a:solidFill>
                  <a:schemeClr val="accent3"/>
                </a:solidFill>
              </a:rPr>
              <a:t>くらいにピッチ制限する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22" name="直線矢印コネクタ 21"/>
          <p:cNvCxnSpPr/>
          <p:nvPr/>
        </p:nvCxnSpPr>
        <p:spPr>
          <a:xfrm rot="10800000" flipV="1">
            <a:off x="5342020" y="4953095"/>
            <a:ext cx="1153672" cy="35336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Bone 05</a:t>
            </a:r>
            <a:r>
              <a:rPr kumimoji="1" lang="ja-JP" altLang="en-US" dirty="0" smtClean="0"/>
              <a:t>」の「モーションオプション」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35</a:t>
            </a:fld>
            <a:endParaRPr lang="en-US" altLang="ja-JP"/>
          </a:p>
        </p:txBody>
      </p:sp>
      <p:cxnSp>
        <p:nvCxnSpPr>
          <p:cNvPr id="14" name="直線矢印コネクタ 13"/>
          <p:cNvCxnSpPr/>
          <p:nvPr/>
        </p:nvCxnSpPr>
        <p:spPr>
          <a:xfrm rot="16200000" flipV="1">
            <a:off x="5388307" y="2440246"/>
            <a:ext cx="348603" cy="24865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3440713" y="2092545"/>
            <a:ext cx="212590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lang="ja-JP" altLang="en-US" dirty="0" smtClean="0">
                <a:solidFill>
                  <a:schemeClr val="accent3"/>
                </a:solidFill>
              </a:rPr>
              <a:t>制御と制限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 rot="16200000" flipV="1">
            <a:off x="6277982" y="3836233"/>
            <a:ext cx="1387644" cy="18950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3010636" y="4624806"/>
            <a:ext cx="405591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「ゴールオブジェクト」に「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Null (1)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」を選ぶ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「ゴールオブジェクト」を動かす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36</a:t>
            </a:fld>
            <a:endParaRPr lang="en-US" altLang="ja-JP"/>
          </a:p>
        </p:txBody>
      </p:sp>
      <p:cxnSp>
        <p:nvCxnSpPr>
          <p:cNvPr id="10" name="直線矢印コネクタ 9"/>
          <p:cNvCxnSpPr/>
          <p:nvPr/>
        </p:nvCxnSpPr>
        <p:spPr>
          <a:xfrm rot="16200000" flipH="1">
            <a:off x="4335396" y="3661626"/>
            <a:ext cx="874263" cy="43313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4055961" y="4338481"/>
            <a:ext cx="3927678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「オブジェクト」の「</a:t>
            </a:r>
            <a:r>
              <a:rPr lang="en-US" altLang="ja-JP" dirty="0" smtClean="0">
                <a:solidFill>
                  <a:schemeClr val="accent3"/>
                </a:solidFill>
              </a:rPr>
              <a:t>Null (1)</a:t>
            </a:r>
            <a:r>
              <a:rPr lang="ja-JP" altLang="en-US" dirty="0" smtClean="0">
                <a:solidFill>
                  <a:schemeClr val="accent3"/>
                </a:solidFill>
              </a:rPr>
              <a:t>」を動かせば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それに合わせて「ボーン」が動き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それに合わせて「カプセル」が変形する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534867" y="1839051"/>
            <a:ext cx="567526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「ボーン編集」から「ボーン編集モードから出る」を選ぶか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Shift-D</a:t>
            </a:r>
            <a:r>
              <a:rPr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10800000">
            <a:off x="1448925" y="2660256"/>
            <a:ext cx="290349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534867" y="3256546"/>
            <a:ext cx="5675262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「インバースキネマティクス」を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オンにする</a:t>
            </a:r>
            <a:r>
              <a:rPr lang="ja-JP" altLang="en-US" dirty="0" smtClean="0">
                <a:solidFill>
                  <a:schemeClr val="accent3"/>
                </a:solidFill>
              </a:rPr>
              <a:t>（</a:t>
            </a:r>
            <a:r>
              <a:rPr lang="en-US" altLang="ja-JP" dirty="0" smtClean="0">
                <a:solidFill>
                  <a:schemeClr val="accent3"/>
                </a:solidFill>
              </a:rPr>
              <a:t>IK </a:t>
            </a:r>
            <a:r>
              <a:rPr lang="ja-JP" altLang="en-US" dirty="0" smtClean="0">
                <a:solidFill>
                  <a:schemeClr val="accent3"/>
                </a:solidFill>
              </a:rPr>
              <a:t>有効）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10800000">
            <a:off x="1440107" y="2998286"/>
            <a:ext cx="290349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 flipV="1">
            <a:off x="1965160" y="4539916"/>
            <a:ext cx="2090801" cy="181586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rot="5400000" flipH="1" flipV="1">
            <a:off x="2685119" y="4884104"/>
            <a:ext cx="1715027" cy="102665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「ゴールオブジェクト」の</a:t>
            </a:r>
            <a:r>
              <a:rPr kumimoji="1" lang="ja-JP" altLang="en-US" dirty="0" smtClean="0"/>
              <a:t>軌跡を定義する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37</a:t>
            </a:fld>
            <a:endParaRPr lang="en-US" altLang="ja-JP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線矢印コネクタ 5"/>
          <p:cNvCxnSpPr/>
          <p:nvPr/>
        </p:nvCxnSpPr>
        <p:spPr>
          <a:xfrm rot="16200000" flipH="1">
            <a:off x="4335396" y="3661626"/>
            <a:ext cx="874263" cy="43313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/>
          <p:cNvSpPr txBox="1"/>
          <p:nvPr/>
        </p:nvSpPr>
        <p:spPr>
          <a:xfrm>
            <a:off x="4055961" y="4338481"/>
            <a:ext cx="421301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「オブジェクト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」の「</a:t>
            </a:r>
            <a:r>
              <a:rPr lang="en-US" altLang="ja-JP" dirty="0" smtClean="0">
                <a:solidFill>
                  <a:schemeClr val="accent3"/>
                </a:solidFill>
              </a:rPr>
              <a:t>Null (1)</a:t>
            </a:r>
            <a:r>
              <a:rPr lang="ja-JP" altLang="en-US" dirty="0" smtClean="0">
                <a:solidFill>
                  <a:schemeClr val="accent3"/>
                </a:solidFill>
              </a:rPr>
              <a:t>」を</a:t>
            </a:r>
            <a:r>
              <a:rPr lang="ja-JP" altLang="en-US" dirty="0" smtClean="0">
                <a:solidFill>
                  <a:schemeClr val="accent3"/>
                </a:solidFill>
              </a:rPr>
              <a:t>動かしながら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キーを打って軌跡を定義する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flipV="1">
            <a:off x="2623559" y="4809597"/>
            <a:ext cx="1432402" cy="1155370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mde">
      <a:dk1>
        <a:srgbClr val="393939"/>
      </a:dk1>
      <a:lt1>
        <a:srgbClr val="FFFFFF"/>
      </a:lt1>
      <a:dk2>
        <a:srgbClr val="5F5F5F"/>
      </a:dk2>
      <a:lt2>
        <a:srgbClr val="FFCC00"/>
      </a:lt2>
      <a:accent1>
        <a:srgbClr val="4D4D4D"/>
      </a:accent1>
      <a:accent2>
        <a:srgbClr val="FF3300"/>
      </a:accent2>
      <a:accent3>
        <a:srgbClr val="EE8D0C"/>
      </a:accent3>
      <a:accent4>
        <a:srgbClr val="DADADA"/>
      </a:accent4>
      <a:accent5>
        <a:srgbClr val="B2B2B2"/>
      </a:accent5>
      <a:accent6>
        <a:srgbClr val="E72D00"/>
      </a:accent6>
      <a:hlink>
        <a:srgbClr val="FF6600"/>
      </a:hlink>
      <a:folHlink>
        <a:srgbClr val="D456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3">
        <a:dk1>
          <a:srgbClr val="0033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4">
        <a:dk1>
          <a:srgbClr val="003300"/>
        </a:dk1>
        <a:lt1>
          <a:srgbClr val="FFFFFF"/>
        </a:lt1>
        <a:dk2>
          <a:srgbClr val="0033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5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777777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DBDBD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6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4D4D4D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2B2B2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3499</TotalTime>
  <Words>1010</Words>
  <Application>Microsoft Office PowerPoint</Application>
  <PresentationFormat>画面に合わせる (4:3)</PresentationFormat>
  <Paragraphs>212</Paragraphs>
  <Slides>37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38" baseType="lpstr">
      <vt:lpstr>標準デザイン</vt:lpstr>
      <vt:lpstr>ボーンと IK の使い方</vt:lpstr>
      <vt:lpstr>「モデラー」を起動する</vt:lpstr>
      <vt:lpstr>「カプセル」を作成する</vt:lpstr>
      <vt:lpstr>「カプセル」の設定</vt:lpstr>
      <vt:lpstr>「カプセル」を確定する</vt:lpstr>
      <vt:lpstr>「カプセル」をコピーする</vt:lpstr>
      <vt:lpstr>「カプセル」を貼り付ける</vt:lpstr>
      <vt:lpstr>貼り付けたものを並べて配置する</vt:lpstr>
      <vt:lpstr>貼り付けを確定する</vt:lpstr>
      <vt:lpstr>レイヤーを切り替える</vt:lpstr>
      <vt:lpstr>「スケルゴン」を作成する</vt:lpstr>
      <vt:lpstr>「スケルゴン」を追加する</vt:lpstr>
      <vt:lpstr>「スケルゴン」をさらに３本追加する</vt:lpstr>
      <vt:lpstr>「スケルゴン」を確定する</vt:lpstr>
      <vt:lpstr>最初の「スケルゴン」を選択する</vt:lpstr>
      <vt:lpstr>「スケルゴン」を作成する</vt:lpstr>
      <vt:lpstr>「スケルゴン」をさらに３本追加する</vt:lpstr>
      <vt:lpstr>「スケルゴン」の作成を確定する</vt:lpstr>
      <vt:lpstr>レイヤーを平坦化する</vt:lpstr>
      <vt:lpstr>オブジェクトを保存する</vt:lpstr>
      <vt:lpstr>「デスクトップ」か「マイドキュメント」に保存</vt:lpstr>
      <vt:lpstr>「レイアウト」を起動する</vt:lpstr>
      <vt:lpstr>オブジェクトを配置する</vt:lpstr>
      <vt:lpstr>オブジェクト (LWO) ファイルを選択する</vt:lpstr>
      <vt:lpstr>「スケルゴン」を「ボーン」に変換する</vt:lpstr>
      <vt:lpstr>ビューを「背面」に切り替える</vt:lpstr>
      <vt:lpstr>「Null」を追加する</vt:lpstr>
      <vt:lpstr>もうひとつ「Null」を追加する</vt:lpstr>
      <vt:lpstr>ビューを「左面」に切り替える</vt:lpstr>
      <vt:lpstr>「ボーン」を含むオブジェクトを選択する</vt:lpstr>
      <vt:lpstr>「ボーン編集モード」に切り替える</vt:lpstr>
      <vt:lpstr>「Bone 03 (1)」を選択する</vt:lpstr>
      <vt:lpstr>「モーションオプション」を設定する</vt:lpstr>
      <vt:lpstr>「Bone 04 (1)」の「モーションオプション」</vt:lpstr>
      <vt:lpstr>「Bone 05」の「モーションオプション」</vt:lpstr>
      <vt:lpstr>「ゴールオブジェクト」を動かす</vt:lpstr>
      <vt:lpstr>「ゴールオブジェクト」の軌跡を定義する</vt:lpstr>
    </vt:vector>
  </TitlesOfParts>
  <Company>和歌山大学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モデリング</dc:title>
  <dc:creator>床井浩平</dc:creator>
  <cp:lastModifiedBy>Kohe Tokoi</cp:lastModifiedBy>
  <cp:revision>685</cp:revision>
  <dcterms:created xsi:type="dcterms:W3CDTF">2003-10-06T09:37:19Z</dcterms:created>
  <dcterms:modified xsi:type="dcterms:W3CDTF">2010-09-24T05:29:39Z</dcterms:modified>
</cp:coreProperties>
</file>