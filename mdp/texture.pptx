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75" r:id="rId2"/>
    <p:sldId id="377" r:id="rId3"/>
    <p:sldId id="378" r:id="rId4"/>
    <p:sldId id="379" r:id="rId5"/>
    <p:sldId id="380" r:id="rId6"/>
    <p:sldId id="381" r:id="rId7"/>
    <p:sldId id="382" r:id="rId8"/>
    <p:sldId id="383" r:id="rId9"/>
    <p:sldId id="384" r:id="rId10"/>
    <p:sldId id="385" r:id="rId11"/>
    <p:sldId id="386" r:id="rId12"/>
    <p:sldId id="387" r:id="rId13"/>
    <p:sldId id="388" r:id="rId14"/>
    <p:sldId id="389" r:id="rId15"/>
    <p:sldId id="390" r:id="rId16"/>
    <p:sldId id="391" r:id="rId17"/>
    <p:sldId id="393" r:id="rId18"/>
    <p:sldId id="392" r:id="rId19"/>
    <p:sldId id="394" r:id="rId20"/>
    <p:sldId id="395" r:id="rId21"/>
    <p:sldId id="399" r:id="rId22"/>
    <p:sldId id="400" r:id="rId23"/>
    <p:sldId id="402" r:id="rId24"/>
    <p:sldId id="401" r:id="rId25"/>
    <p:sldId id="403" r:id="rId26"/>
    <p:sldId id="404" r:id="rId27"/>
  </p:sldIdLst>
  <p:sldSz cx="9144000" cy="6858000" type="screen4x3"/>
  <p:notesSz cx="7099300" cy="10234613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1" autoAdjust="0"/>
    <p:restoredTop sz="86400" autoAdjust="0"/>
  </p:normalViewPr>
  <p:slideViewPr>
    <p:cSldViewPr snapToGrid="0" snapToObjects="1">
      <p:cViewPr varScale="1">
        <p:scale>
          <a:sx n="59" d="100"/>
          <a:sy n="59" d="100"/>
        </p:scale>
        <p:origin x="-34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36868100" cy="3686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2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3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1833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02AFEF7D-0F5B-46FE-955A-E9DFAFCB90C1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ja-JP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7A509356-DC20-4289-9B8A-92ECC85530A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明朝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356-DC20-4289-9B8A-92ECC85530AE}" type="slidenum">
              <a:rPr lang="en-US" altLang="ja-JP" smtClean="0"/>
              <a:pPr/>
              <a:t>3</a:t>
            </a:fld>
            <a:endParaRPr lang="en-US" altLang="ja-JP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ノート プレースホル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509356-DC20-4289-9B8A-92ECC85530AE}" type="slidenum">
              <a:rPr lang="en-US" altLang="ja-JP" smtClean="0"/>
              <a:pPr/>
              <a:t>17</a:t>
            </a:fld>
            <a:endParaRPr lang="en-US" altLang="ja-JP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D3A431-F0A2-4498-9B99-4E316DD858D8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901A7-30CC-4244-AC1D-4432D3BFFCB8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085F60D-2276-432A-93AB-23E94F04B369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0A245-9887-4288-A9BE-B8A98211D943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BEDCD0-E185-4EC4-AA40-082972A8A140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ECAC4D-28B7-4772-B0F9-0A7907DC5E08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196975"/>
            <a:ext cx="403860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196975"/>
            <a:ext cx="4038600" cy="5256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89A962F-ACFD-4695-9304-106CB12203C2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FC234A-A3A4-44F6-A9E2-108939E62A7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F30D961-CD92-47CD-8898-7EFAC029528E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77E917-639C-483B-BB32-1C5372995AE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43CAC3F-40B7-4528-B482-CE15BB4749F6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F32019-5BB1-42DC-BF77-A4FE45D4194A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EF6821D-A4AB-44FC-830E-A1899477DDC7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FED885-00FC-4496-9747-38E4A6CB360F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0BD9A7-EDB6-4CAE-B7C1-E16333911A59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92095B-1B3A-4C44-B884-3F0FC938F142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782FABC-B5B1-4313-9016-AFE01A263470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404A78-9F6E-4CF8-B217-7BE16E509444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C52B8F-3663-4897-88A7-A614EF028406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CC968-20D1-4E97-A7BC-79708718D6C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60350"/>
            <a:ext cx="2057400" cy="6192838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60350"/>
            <a:ext cx="6019800" cy="6192838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4A9E36-8EA1-4C07-9DC4-76E232F66690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2D0640-34DB-4649-B51C-865C7FE249DE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60350"/>
            <a:ext cx="8229600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6975"/>
            <a:ext cx="8229600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246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D3BBCD6A-E7DD-44D8-A45D-D5A2D3D8CA2E}" type="datetime1">
              <a:rPr lang="ja-JP" altLang="en-US"/>
              <a:pPr/>
              <a:t>2010/9/24</a:t>
            </a:fld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24625"/>
            <a:ext cx="2895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altLang="ja-JP"/>
              <a:t>メディアデザイン演習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524625"/>
            <a:ext cx="2133600" cy="26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fld id="{E72133AB-CA0D-4CCD-8A69-49BCD064CB69}" type="slidenum">
              <a:rPr lang="en-US" altLang="ja-JP"/>
              <a:pPr/>
              <a:t>&lt;#&gt;</a:t>
            </a:fld>
            <a:endParaRPr lang="en-US" altLang="ja-JP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2pPr>
      <a:lvl3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3pPr>
      <a:lvl4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4pPr>
      <a:lvl5pPr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  <a:ea typeface="ＭＳ Ｐゴシック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 smtClean="0"/>
              <a:t>テクスチャを貼る</a:t>
            </a:r>
            <a:endParaRPr lang="ja-JP" altLang="en-US" dirty="0"/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/>
              <a:t>メディアデザイン演習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「レイアウト」</a:t>
            </a:r>
            <a:r>
              <a:rPr lang="ja-JP" altLang="en-US" dirty="0" smtClean="0"/>
              <a:t>を起動する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</a:t>
            </a:fld>
            <a:endParaRPr lang="en-US" altLang="ja-JP"/>
          </a:p>
        </p:txBody>
      </p:sp>
      <p:pic>
        <p:nvPicPr>
          <p:cNvPr id="1028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オブジェクトを配置する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3</a:t>
            </a:fld>
            <a:endParaRPr lang="en-US" altLang="ja-JP"/>
          </a:p>
        </p:txBody>
      </p:sp>
      <p:pic>
        <p:nvPicPr>
          <p:cNvPr id="2150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直線矢印コネクタ 7"/>
          <p:cNvCxnSpPr/>
          <p:nvPr/>
        </p:nvCxnSpPr>
        <p:spPr>
          <a:xfrm rot="10800000">
            <a:off x="1313410" y="1421477"/>
            <a:ext cx="382386" cy="30757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rot="10800000">
            <a:off x="2205644" y="1889764"/>
            <a:ext cx="537557" cy="53755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16200000" flipH="1">
            <a:off x="1521337" y="2916745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1723499" y="2696043"/>
            <a:ext cx="6545179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「ファイル」メニューの「開く」「オブジェクトを開く」を選択するか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「アイテム」タブの「開く」メニューの「オブジェクト」をクリックするか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+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」キーをタイプ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5" name="直線矢印コネクタ 14"/>
          <p:cNvCxnSpPr/>
          <p:nvPr/>
        </p:nvCxnSpPr>
        <p:spPr>
          <a:xfrm rot="16200000" flipH="1">
            <a:off x="1981264" y="143266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オブジェクト </a:t>
            </a:r>
            <a:r>
              <a:rPr kumimoji="1" lang="en-US" altLang="ja-JP" dirty="0" smtClean="0"/>
              <a:t>(LWO) </a:t>
            </a:r>
            <a:r>
              <a:rPr kumimoji="1" lang="ja-JP" altLang="en-US" dirty="0" smtClean="0"/>
              <a:t>ファイル</a:t>
            </a:r>
            <a:r>
              <a:rPr lang="ja-JP" altLang="en-US" dirty="0" smtClean="0"/>
              <a:t>を</a:t>
            </a:r>
            <a:r>
              <a:rPr kumimoji="1" lang="ja-JP" altLang="en-US" dirty="0" smtClean="0"/>
              <a:t>選択する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4</a:t>
            </a:fld>
            <a:endParaRPr lang="en-US" altLang="ja-JP"/>
          </a:p>
        </p:txBody>
      </p:sp>
      <p:cxnSp>
        <p:nvCxnSpPr>
          <p:cNvPr id="10" name="直線矢印コネクタ 9"/>
          <p:cNvCxnSpPr/>
          <p:nvPr/>
        </p:nvCxnSpPr>
        <p:spPr>
          <a:xfrm rot="16200000" flipV="1">
            <a:off x="1956211" y="2426391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/>
          <p:cNvCxnSpPr/>
          <p:nvPr/>
        </p:nvCxnSpPr>
        <p:spPr>
          <a:xfrm rot="5400000">
            <a:off x="4932323" y="3333511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/>
          <p:cNvCxnSpPr/>
          <p:nvPr/>
        </p:nvCxnSpPr>
        <p:spPr>
          <a:xfrm rot="5400000" flipH="1" flipV="1">
            <a:off x="3990217" y="505701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/>
          <p:cNvCxnSpPr/>
          <p:nvPr/>
        </p:nvCxnSpPr>
        <p:spPr>
          <a:xfrm rot="16200000" flipV="1">
            <a:off x="5978235" y="5314605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3376976" y="3953050"/>
            <a:ext cx="3913251" cy="646331"/>
          </a:xfrm>
          <a:prstGeom prst="rect">
            <a:avLst/>
          </a:prstGeom>
          <a:noFill/>
          <a:effectLst>
            <a:outerShdw blurRad="25400" dist="254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「デスクトップ」や「マイドキュメント」など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ファイルを保存した場所を選択する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オブジェクトがシーンに配置される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5</a:t>
            </a:fld>
            <a:endParaRPr lang="en-US" altLang="ja-JP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795538" y="3826933"/>
            <a:ext cx="4180063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「モデラー」におけるオブジェクトの原点がシーンの原点と一致する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rot="16200000" flipV="1">
            <a:off x="2635241" y="2276813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/>
          <p:cNvCxnSpPr/>
          <p:nvPr/>
        </p:nvCxnSpPr>
        <p:spPr>
          <a:xfrm rot="5400000">
            <a:off x="2851265" y="4621983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2022162" y="1949045"/>
            <a:ext cx="646331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光源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2174562" y="4796442"/>
            <a:ext cx="72808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カメラ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2" name="直線矢印コネクタ 11"/>
          <p:cNvCxnSpPr/>
          <p:nvPr/>
        </p:nvCxnSpPr>
        <p:spPr>
          <a:xfrm rot="5400000" flipH="1" flipV="1">
            <a:off x="5153998" y="2492837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5336770" y="2166963"/>
            <a:ext cx="2398413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配置されたオブジェクト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テクスチャソリッド表示に切り替える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6</a:t>
            </a:fld>
            <a:endParaRPr lang="en-US" altLang="ja-JP"/>
          </a:p>
        </p:txBody>
      </p:sp>
      <p:cxnSp>
        <p:nvCxnSpPr>
          <p:cNvPr id="7" name="直線矢印コネクタ 6"/>
          <p:cNvCxnSpPr/>
          <p:nvPr/>
        </p:nvCxnSpPr>
        <p:spPr>
          <a:xfrm rot="16200000" flipV="1">
            <a:off x="2377440" y="157854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「ライト」の「回転」を「リセット」する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7</a:t>
            </a:fld>
            <a:endParaRPr lang="en-US" altLang="ja-JP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H="1">
            <a:off x="2307180" y="144579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506520" y="1629734"/>
            <a:ext cx="148790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「変形」のタブ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5400000" flipH="1" flipV="1">
            <a:off x="1524544" y="3192924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1740568" y="2762616"/>
            <a:ext cx="2438488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「回転」をクリックするか</a:t>
            </a:r>
            <a:endParaRPr kumimoji="1"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y</a:t>
            </a:r>
            <a:r>
              <a:rPr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16200000" flipH="1">
            <a:off x="1516286" y="4660776"/>
            <a:ext cx="216024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1715626" y="4844716"/>
            <a:ext cx="2028119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「リセット」をクリック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5539140" y="4475384"/>
            <a:ext cx="265489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「ライト」を背面から当てる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ビューを「カメラ」に切り替える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8</a:t>
            </a:fld>
            <a:endParaRPr lang="en-US" altLang="ja-JP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V="1">
            <a:off x="1427218" y="2084944"/>
            <a:ext cx="1164656" cy="21602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「色・質感編集」ウィンドウを開く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9</a:t>
            </a:fld>
            <a:endParaRPr lang="en-US" altLang="ja-JP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flipV="1">
            <a:off x="1524544" y="1395663"/>
            <a:ext cx="448635" cy="44764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1973179" y="1210997"/>
            <a:ext cx="4514377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「色・質感編集」をクリックするか「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F5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4" name="直線矢印コネクタ 13"/>
          <p:cNvCxnSpPr/>
          <p:nvPr/>
        </p:nvCxnSpPr>
        <p:spPr>
          <a:xfrm rot="16200000" flipH="1">
            <a:off x="1389528" y="2838112"/>
            <a:ext cx="866280" cy="13102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1757157" y="3336760"/>
            <a:ext cx="1710725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▼をクリックして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Head</a:t>
            </a:r>
            <a:r>
              <a:rPr lang="ja-JP" altLang="en-US" dirty="0" smtClean="0">
                <a:solidFill>
                  <a:schemeClr val="accent3"/>
                </a:solidFill>
              </a:rPr>
              <a:t>」を選択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8" name="直線矢印コネクタ 17"/>
          <p:cNvCxnSpPr/>
          <p:nvPr/>
        </p:nvCxnSpPr>
        <p:spPr>
          <a:xfrm rot="5400000">
            <a:off x="1694329" y="3041328"/>
            <a:ext cx="489292" cy="10158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矢印コネクタ 22"/>
          <p:cNvCxnSpPr/>
          <p:nvPr/>
        </p:nvCxnSpPr>
        <p:spPr>
          <a:xfrm rot="5400000" flipH="1" flipV="1">
            <a:off x="5164211" y="2870199"/>
            <a:ext cx="489293" cy="44384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/>
          <p:cNvSpPr txBox="1"/>
          <p:nvPr/>
        </p:nvSpPr>
        <p:spPr>
          <a:xfrm>
            <a:off x="5598698" y="2610229"/>
            <a:ext cx="2292615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T</a:t>
            </a:r>
            <a:r>
              <a:rPr lang="ja-JP" altLang="en-US" dirty="0" smtClean="0">
                <a:solidFill>
                  <a:schemeClr val="accent3"/>
                </a:solidFill>
              </a:rPr>
              <a:t>」のボタンをクリック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「円柱状」に「画像」をマッピングする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10</a:t>
            </a:fld>
            <a:endParaRPr lang="en-US" altLang="ja-JP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0800000" flipV="1">
            <a:off x="6067928" y="2502568"/>
            <a:ext cx="533401" cy="29678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6474756" y="1620253"/>
            <a:ext cx="1766830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「投影」は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「円柱状」を選ぶ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rot="10800000">
            <a:off x="6067929" y="2975812"/>
            <a:ext cx="533400" cy="360946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6474756" y="3476491"/>
            <a:ext cx="1638590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「画像」は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「画像を開く」を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選ぶ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適当な画像を選択する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11</a:t>
            </a:fld>
            <a:endParaRPr lang="en-US" altLang="ja-JP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V="1">
            <a:off x="5980219" y="2661933"/>
            <a:ext cx="357209" cy="278047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3693594" y="2285103"/>
            <a:ext cx="2422458" cy="369332"/>
          </a:xfrm>
          <a:prstGeom prst="rect">
            <a:avLst/>
          </a:prstGeom>
          <a:noFill/>
          <a:effectLst>
            <a:outerShdw blurRad="25400" dist="254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あらかじめ用意しておく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「テクスチャ軸」や「サイズ」を設定する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12</a:t>
            </a:fld>
            <a:endParaRPr lang="en-US" altLang="ja-JP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 flipH="1" flipV="1">
            <a:off x="5935574" y="3945008"/>
            <a:ext cx="489293" cy="44384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6402147" y="3490124"/>
            <a:ext cx="1872629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「テクスチャ軸」は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Y</a:t>
            </a:r>
            <a:r>
              <a:rPr lang="ja-JP" altLang="en-US" dirty="0" smtClean="0">
                <a:solidFill>
                  <a:schemeClr val="accent3"/>
                </a:solidFill>
              </a:rPr>
              <a:t>」を選択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 rot="5400000" flipH="1" flipV="1">
            <a:off x="6135278" y="4491881"/>
            <a:ext cx="282504" cy="25123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6402147" y="4136455"/>
            <a:ext cx="1903085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「自動サイズ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合わせ」をクリック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4" name="直線矢印コネクタ 13"/>
          <p:cNvCxnSpPr/>
          <p:nvPr/>
        </p:nvCxnSpPr>
        <p:spPr>
          <a:xfrm rot="16200000" flipV="1">
            <a:off x="4631467" y="5526691"/>
            <a:ext cx="357209" cy="243379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2639146" y="5100444"/>
            <a:ext cx="278313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「テクスチャ使用」をクリック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マッピングされたテクスチャのプレビュー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13</a:t>
            </a:fld>
            <a:endParaRPr lang="en-US" altLang="ja-JP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2" y="1196975"/>
            <a:ext cx="7393355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レンダリング結果（適正サンプリング有効）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14</a:t>
            </a:fld>
            <a:endParaRPr lang="en-US" altLang="ja-JP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683940" y="1547467"/>
            <a:ext cx="145264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F9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</a:t>
            </a:r>
            <a:r>
              <a:rPr lang="ja-JP" altLang="en-US" dirty="0" smtClean="0">
                <a:solidFill>
                  <a:schemeClr val="accent3"/>
                </a:solidFill>
              </a:rPr>
              <a:t>をタイプ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</a:t>
            </a:r>
            <a:r>
              <a:rPr kumimoji="1" lang="en-US" altLang="ja-JP" dirty="0" smtClean="0"/>
              <a:t>Body</a:t>
            </a:r>
            <a:r>
              <a:rPr kumimoji="1" lang="ja-JP" altLang="en-US" dirty="0" smtClean="0"/>
              <a:t>」の「色・質感編集」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15</a:t>
            </a:fld>
            <a:endParaRPr lang="en-US" altLang="ja-JP"/>
          </a:p>
        </p:txBody>
      </p:sp>
      <p:cxnSp>
        <p:nvCxnSpPr>
          <p:cNvPr id="14" name="直線矢印コネクタ 13"/>
          <p:cNvCxnSpPr/>
          <p:nvPr/>
        </p:nvCxnSpPr>
        <p:spPr>
          <a:xfrm flipV="1">
            <a:off x="1524544" y="1395663"/>
            <a:ext cx="448635" cy="44764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/>
          <p:cNvSpPr txBox="1"/>
          <p:nvPr/>
        </p:nvSpPr>
        <p:spPr>
          <a:xfrm>
            <a:off x="1973179" y="1210997"/>
            <a:ext cx="4514377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「色・質感編集」をクリックするか「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F5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」をタイプ</a:t>
            </a:r>
            <a:endParaRPr kumimoji="1"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6" name="直線矢印コネクタ 15"/>
          <p:cNvCxnSpPr/>
          <p:nvPr/>
        </p:nvCxnSpPr>
        <p:spPr>
          <a:xfrm rot="16200000" flipH="1">
            <a:off x="1389528" y="2838112"/>
            <a:ext cx="866280" cy="131023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/>
          <p:cNvSpPr txBox="1"/>
          <p:nvPr/>
        </p:nvSpPr>
        <p:spPr>
          <a:xfrm>
            <a:off x="1757157" y="3336760"/>
            <a:ext cx="1710725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▼をクリックして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Body</a:t>
            </a:r>
            <a:r>
              <a:rPr lang="ja-JP" altLang="en-US" dirty="0" smtClean="0">
                <a:solidFill>
                  <a:schemeClr val="accent3"/>
                </a:solidFill>
              </a:rPr>
              <a:t>」を選択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8" name="直線矢印コネクタ 17"/>
          <p:cNvCxnSpPr/>
          <p:nvPr/>
        </p:nvCxnSpPr>
        <p:spPr>
          <a:xfrm rot="5400000">
            <a:off x="1629761" y="2993349"/>
            <a:ext cx="601842" cy="8499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/>
          <p:cNvCxnSpPr/>
          <p:nvPr/>
        </p:nvCxnSpPr>
        <p:spPr>
          <a:xfrm rot="5400000" flipH="1" flipV="1">
            <a:off x="5164211" y="2870199"/>
            <a:ext cx="489293" cy="44384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5598698" y="2610229"/>
            <a:ext cx="2292615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T</a:t>
            </a:r>
            <a:r>
              <a:rPr lang="ja-JP" altLang="en-US" dirty="0" smtClean="0">
                <a:solidFill>
                  <a:schemeClr val="accent3"/>
                </a:solidFill>
              </a:rPr>
              <a:t>」のボタンをクリック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70" name="Picture 6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「プロシージャル」テクスチャの設定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16</a:t>
            </a:fld>
            <a:endParaRPr lang="en-US" altLang="ja-JP"/>
          </a:p>
        </p:txBody>
      </p:sp>
      <p:cxnSp>
        <p:nvCxnSpPr>
          <p:cNvPr id="8" name="直線矢印コネクタ 7"/>
          <p:cNvCxnSpPr/>
          <p:nvPr/>
        </p:nvCxnSpPr>
        <p:spPr>
          <a:xfrm rot="10800000" flipV="1">
            <a:off x="6110796" y="1881187"/>
            <a:ext cx="533400" cy="226729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6474756" y="2122206"/>
            <a:ext cx="1869423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「レイヤー種」に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「プロシージャル」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を選ぶ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rot="5400000" flipH="1" flipV="1">
            <a:off x="3511348" y="2997374"/>
            <a:ext cx="2041143" cy="174863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/>
          <p:cNvSpPr txBox="1"/>
          <p:nvPr/>
        </p:nvSpPr>
        <p:spPr>
          <a:xfrm>
            <a:off x="6785293" y="3149810"/>
            <a:ext cx="1066318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適当に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設定する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23" name="直線矢印コネクタ 22"/>
          <p:cNvCxnSpPr/>
          <p:nvPr/>
        </p:nvCxnSpPr>
        <p:spPr>
          <a:xfrm rot="16200000" flipH="1">
            <a:off x="6086576" y="4192758"/>
            <a:ext cx="339791" cy="29135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/>
          <p:cNvSpPr txBox="1"/>
          <p:nvPr/>
        </p:nvSpPr>
        <p:spPr>
          <a:xfrm>
            <a:off x="6402147" y="4377085"/>
            <a:ext cx="1903085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「自動サイズ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合わせ」をクリック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25" name="直線矢印コネクタ 24"/>
          <p:cNvCxnSpPr/>
          <p:nvPr/>
        </p:nvCxnSpPr>
        <p:spPr>
          <a:xfrm>
            <a:off x="4931762" y="5217390"/>
            <a:ext cx="490518" cy="42943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/>
          <p:cNvSpPr txBox="1"/>
          <p:nvPr/>
        </p:nvSpPr>
        <p:spPr>
          <a:xfrm>
            <a:off x="5389246" y="5462155"/>
            <a:ext cx="278313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「テクスチャ使用」をクリック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2346502" y="3383738"/>
            <a:ext cx="2331087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「プロシージャル種」は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FBM Noise</a:t>
            </a:r>
            <a:r>
              <a:rPr lang="ja-JP" altLang="en-US" dirty="0" smtClean="0">
                <a:solidFill>
                  <a:schemeClr val="accent3"/>
                </a:solidFill>
              </a:rPr>
              <a:t>」を選択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32" name="直線矢印コネクタ 31"/>
          <p:cNvCxnSpPr/>
          <p:nvPr/>
        </p:nvCxnSpPr>
        <p:spPr>
          <a:xfrm>
            <a:off x="6309578" y="2979041"/>
            <a:ext cx="475715" cy="340115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/>
          <p:cNvCxnSpPr/>
          <p:nvPr/>
        </p:nvCxnSpPr>
        <p:spPr>
          <a:xfrm>
            <a:off x="6305098" y="3124948"/>
            <a:ext cx="475715" cy="19420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矢印コネクタ 16"/>
          <p:cNvCxnSpPr/>
          <p:nvPr/>
        </p:nvCxnSpPr>
        <p:spPr>
          <a:xfrm>
            <a:off x="6305098" y="3287486"/>
            <a:ext cx="475715" cy="31670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/>
          <p:cNvCxnSpPr/>
          <p:nvPr/>
        </p:nvCxnSpPr>
        <p:spPr>
          <a:xfrm flipV="1">
            <a:off x="6305098" y="3319156"/>
            <a:ext cx="475715" cy="130869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「反射光」と「光沢」の設定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17</a:t>
            </a:fld>
            <a:endParaRPr lang="en-US" altLang="ja-JP"/>
          </a:p>
        </p:txBody>
      </p:sp>
      <p:cxnSp>
        <p:nvCxnSpPr>
          <p:cNvPr id="7" name="直線矢印コネクタ 6"/>
          <p:cNvCxnSpPr/>
          <p:nvPr/>
        </p:nvCxnSpPr>
        <p:spPr>
          <a:xfrm flipV="1">
            <a:off x="4678918" y="3549064"/>
            <a:ext cx="775401" cy="357209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5438976" y="3364398"/>
            <a:ext cx="2533066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「反射光」は </a:t>
            </a:r>
            <a:r>
              <a:rPr lang="en-US" altLang="ja-JP" dirty="0" smtClean="0">
                <a:solidFill>
                  <a:schemeClr val="accent3"/>
                </a:solidFill>
              </a:rPr>
              <a:t>50%</a:t>
            </a:r>
            <a:r>
              <a:rPr lang="ja-JP" altLang="en-US" dirty="0" smtClean="0">
                <a:solidFill>
                  <a:schemeClr val="accent3"/>
                </a:solidFill>
              </a:rPr>
              <a:t> くらい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>
            <a:off x="4678918" y="4088595"/>
            <a:ext cx="775401" cy="357209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/>
          <p:cNvSpPr txBox="1"/>
          <p:nvPr/>
        </p:nvSpPr>
        <p:spPr>
          <a:xfrm>
            <a:off x="5438976" y="4261138"/>
            <a:ext cx="2238113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「光沢」は </a:t>
            </a:r>
            <a:r>
              <a:rPr lang="en-US" altLang="ja-JP" dirty="0" smtClean="0">
                <a:solidFill>
                  <a:schemeClr val="accent3"/>
                </a:solidFill>
              </a:rPr>
              <a:t>60%</a:t>
            </a:r>
            <a:r>
              <a:rPr lang="ja-JP" altLang="en-US" dirty="0" smtClean="0">
                <a:solidFill>
                  <a:schemeClr val="accent3"/>
                </a:solidFill>
              </a:rPr>
              <a:t> くらい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2" name="直線矢印コネクタ 11"/>
          <p:cNvCxnSpPr/>
          <p:nvPr/>
        </p:nvCxnSpPr>
        <p:spPr>
          <a:xfrm flipV="1">
            <a:off x="1540042" y="5772150"/>
            <a:ext cx="371310" cy="21583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1911352" y="4630470"/>
            <a:ext cx="1600118" cy="1200329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ライトの回転を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en-US" altLang="ja-JP" dirty="0" smtClean="0">
                <a:solidFill>
                  <a:schemeClr val="accent3"/>
                </a:solidFill>
              </a:rPr>
              <a:t>H = -10°</a:t>
            </a:r>
          </a:p>
          <a:p>
            <a:r>
              <a:rPr lang="en-US" altLang="ja-JP" dirty="0" smtClean="0">
                <a:solidFill>
                  <a:schemeClr val="accent3"/>
                </a:solidFill>
              </a:rPr>
              <a:t>P = 10 °</a:t>
            </a:r>
          </a:p>
          <a:p>
            <a:r>
              <a:rPr lang="ja-JP" altLang="en-US" dirty="0" smtClean="0">
                <a:solidFill>
                  <a:schemeClr val="accent3"/>
                </a:solidFill>
              </a:rPr>
              <a:t>くらいにする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4" name="直線矢印コネクタ 13"/>
          <p:cNvCxnSpPr/>
          <p:nvPr/>
        </p:nvCxnSpPr>
        <p:spPr>
          <a:xfrm flipV="1">
            <a:off x="1540041" y="5772150"/>
            <a:ext cx="371311" cy="34792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/>
          <p:cNvCxnSpPr/>
          <p:nvPr/>
        </p:nvCxnSpPr>
        <p:spPr>
          <a:xfrm rot="16200000" flipV="1">
            <a:off x="2419202" y="5930209"/>
            <a:ext cx="563348" cy="30036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3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レンダリング結果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18</a:t>
            </a:fld>
            <a:endParaRPr lang="en-US" altLang="ja-JP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3683940" y="1547467"/>
            <a:ext cx="145264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F9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</a:t>
            </a:r>
            <a:r>
              <a:rPr lang="ja-JP" altLang="en-US" dirty="0" smtClean="0">
                <a:solidFill>
                  <a:schemeClr val="accent3"/>
                </a:solidFill>
              </a:rPr>
              <a:t>をタイプ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「反射光」にもテクスチャを貼る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19</a:t>
            </a:fld>
            <a:endParaRPr lang="en-US" altLang="ja-JP"/>
          </a:p>
        </p:txBody>
      </p:sp>
      <p:cxnSp>
        <p:nvCxnSpPr>
          <p:cNvPr id="7" name="直線矢印コネクタ 6"/>
          <p:cNvCxnSpPr/>
          <p:nvPr/>
        </p:nvCxnSpPr>
        <p:spPr>
          <a:xfrm rot="5400000" flipH="1" flipV="1">
            <a:off x="5164211" y="3431669"/>
            <a:ext cx="489293" cy="44384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5598698" y="3171699"/>
            <a:ext cx="2292615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T</a:t>
            </a:r>
            <a:r>
              <a:rPr lang="ja-JP" altLang="en-US" dirty="0" smtClean="0">
                <a:solidFill>
                  <a:schemeClr val="accent3"/>
                </a:solidFill>
              </a:rPr>
              <a:t>」のボタンをクリック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rot="16200000" flipV="1">
            <a:off x="3521240" y="3420722"/>
            <a:ext cx="489294" cy="40907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1677808" y="3011278"/>
            <a:ext cx="2404826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「反射光」を </a:t>
            </a:r>
            <a:r>
              <a:rPr lang="en-US" altLang="ja-JP" dirty="0" smtClean="0">
                <a:solidFill>
                  <a:schemeClr val="accent3"/>
                </a:solidFill>
              </a:rPr>
              <a:t>0% </a:t>
            </a:r>
            <a:r>
              <a:rPr lang="ja-JP" altLang="en-US" dirty="0" smtClean="0">
                <a:solidFill>
                  <a:schemeClr val="accent3"/>
                </a:solidFill>
              </a:rPr>
              <a:t>にする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テクスチャは「色」のものと同じにする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20</a:t>
            </a:fld>
            <a:endParaRPr lang="en-US" altLang="ja-JP"/>
          </a:p>
        </p:txBody>
      </p:sp>
      <p:cxnSp>
        <p:nvCxnSpPr>
          <p:cNvPr id="7" name="直線矢印コネクタ 6"/>
          <p:cNvCxnSpPr/>
          <p:nvPr/>
        </p:nvCxnSpPr>
        <p:spPr>
          <a:xfrm rot="16200000" flipH="1">
            <a:off x="6086576" y="4192758"/>
            <a:ext cx="339791" cy="29135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6402147" y="4377085"/>
            <a:ext cx="1903085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「自動サイズ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合わせ」をクリック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>
            <a:off x="4931762" y="5217390"/>
            <a:ext cx="490518" cy="42943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5389246" y="5462155"/>
            <a:ext cx="278313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「テクスチャ使用」をクリック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5400000" flipH="1" flipV="1">
            <a:off x="6098250" y="1786692"/>
            <a:ext cx="323166" cy="284627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/>
          <p:cNvSpPr txBox="1"/>
          <p:nvPr/>
        </p:nvSpPr>
        <p:spPr>
          <a:xfrm>
            <a:off x="6402147" y="1588636"/>
            <a:ext cx="1869423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「プロシージャル」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5" name="直線矢印コネクタ 14"/>
          <p:cNvCxnSpPr/>
          <p:nvPr/>
        </p:nvCxnSpPr>
        <p:spPr>
          <a:xfrm rot="5400000" flipH="1" flipV="1">
            <a:off x="6098252" y="2523798"/>
            <a:ext cx="323166" cy="284627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6402149" y="2325742"/>
            <a:ext cx="1556836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FBM Noise</a:t>
            </a:r>
            <a:r>
              <a:rPr lang="ja-JP" altLang="en-US" dirty="0" smtClean="0">
                <a:solidFill>
                  <a:schemeClr val="accent3"/>
                </a:solidFill>
              </a:rPr>
              <a:t>」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8" name="直線矢印コネクタ 17"/>
          <p:cNvCxnSpPr/>
          <p:nvPr/>
        </p:nvCxnSpPr>
        <p:spPr>
          <a:xfrm rot="10800000" flipV="1">
            <a:off x="5021183" y="3002198"/>
            <a:ext cx="569612" cy="36664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テキスト ボックス 19"/>
          <p:cNvSpPr txBox="1"/>
          <p:nvPr/>
        </p:nvSpPr>
        <p:spPr>
          <a:xfrm>
            <a:off x="3464347" y="3368843"/>
            <a:ext cx="2039917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Texture Value</a:t>
            </a:r>
            <a:r>
              <a:rPr lang="ja-JP" altLang="en-US" dirty="0" smtClean="0">
                <a:solidFill>
                  <a:schemeClr val="accent3"/>
                </a:solidFill>
              </a:rPr>
              <a:t>」は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en-US" altLang="ja-JP" dirty="0" smtClean="0">
                <a:solidFill>
                  <a:schemeClr val="accent3"/>
                </a:solidFill>
              </a:rPr>
              <a:t>50% </a:t>
            </a:r>
            <a:r>
              <a:rPr lang="ja-JP" altLang="en-US" dirty="0" smtClean="0">
                <a:solidFill>
                  <a:schemeClr val="accent3"/>
                </a:solidFill>
              </a:rPr>
              <a:t>にする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21" name="直線矢印コネクタ 20"/>
          <p:cNvCxnSpPr/>
          <p:nvPr/>
        </p:nvCxnSpPr>
        <p:spPr>
          <a:xfrm rot="10800000" flipV="1">
            <a:off x="3882193" y="2621503"/>
            <a:ext cx="390332" cy="20619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/>
          <p:cNvSpPr txBox="1"/>
          <p:nvPr/>
        </p:nvSpPr>
        <p:spPr>
          <a:xfrm>
            <a:off x="2560197" y="2817532"/>
            <a:ext cx="1712328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「レイヤー反転」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レンダリング結果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21</a:t>
            </a:fld>
            <a:endParaRPr lang="en-US" altLang="ja-JP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3683940" y="1547467"/>
            <a:ext cx="145264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F9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</a:t>
            </a:r>
            <a:r>
              <a:rPr lang="ja-JP" altLang="en-US" dirty="0" smtClean="0">
                <a:solidFill>
                  <a:schemeClr val="accent3"/>
                </a:solidFill>
              </a:rPr>
              <a:t>をタイプ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rot="16200000" flipH="1">
            <a:off x="4954244" y="3846290"/>
            <a:ext cx="300514" cy="28463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5214733" y="4106779"/>
            <a:ext cx="2000869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茶色い部分の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ハイライトが消える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「バンプマッピング」を行う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22</a:t>
            </a:fld>
            <a:endParaRPr lang="en-US" altLang="ja-JP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5400000" flipH="1" flipV="1">
            <a:off x="5164212" y="4462638"/>
            <a:ext cx="489293" cy="443848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5598699" y="4202668"/>
            <a:ext cx="2292615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T</a:t>
            </a:r>
            <a:r>
              <a:rPr lang="ja-JP" altLang="en-US" dirty="0" smtClean="0">
                <a:solidFill>
                  <a:schemeClr val="accent3"/>
                </a:solidFill>
              </a:rPr>
              <a:t>」のボタンをクリック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テクスチャは「色」のものと同じにする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23</a:t>
            </a:fld>
            <a:endParaRPr lang="en-US" altLang="ja-JP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H="1">
            <a:off x="6086576" y="4192758"/>
            <a:ext cx="339791" cy="29135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6402147" y="4377085"/>
            <a:ext cx="1903085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「自動サイズ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合わせ」をクリック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9" name="直線矢印コネクタ 8"/>
          <p:cNvCxnSpPr/>
          <p:nvPr/>
        </p:nvCxnSpPr>
        <p:spPr>
          <a:xfrm>
            <a:off x="4931762" y="5217390"/>
            <a:ext cx="490518" cy="42943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/>
          <p:cNvSpPr txBox="1"/>
          <p:nvPr/>
        </p:nvSpPr>
        <p:spPr>
          <a:xfrm>
            <a:off x="5389246" y="5462155"/>
            <a:ext cx="2783134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「テクスチャ使用」をクリック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1" name="直線矢印コネクタ 10"/>
          <p:cNvCxnSpPr/>
          <p:nvPr/>
        </p:nvCxnSpPr>
        <p:spPr>
          <a:xfrm rot="5400000" flipH="1" flipV="1">
            <a:off x="6098250" y="1786692"/>
            <a:ext cx="323166" cy="284627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6402147" y="1588636"/>
            <a:ext cx="1869423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「プロシージャル」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3" name="直線矢印コネクタ 12"/>
          <p:cNvCxnSpPr/>
          <p:nvPr/>
        </p:nvCxnSpPr>
        <p:spPr>
          <a:xfrm rot="5400000" flipH="1" flipV="1">
            <a:off x="6098252" y="2523798"/>
            <a:ext cx="323166" cy="284627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6402149" y="2325742"/>
            <a:ext cx="1556836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FBM Noise</a:t>
            </a:r>
            <a:r>
              <a:rPr lang="ja-JP" altLang="en-US" dirty="0" smtClean="0">
                <a:solidFill>
                  <a:schemeClr val="accent3"/>
                </a:solidFill>
              </a:rPr>
              <a:t>」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5" name="直線矢印コネクタ 14"/>
          <p:cNvCxnSpPr/>
          <p:nvPr/>
        </p:nvCxnSpPr>
        <p:spPr>
          <a:xfrm rot="10800000" flipV="1">
            <a:off x="5021183" y="3002198"/>
            <a:ext cx="569612" cy="366644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テキスト ボックス 15"/>
          <p:cNvSpPr txBox="1"/>
          <p:nvPr/>
        </p:nvSpPr>
        <p:spPr>
          <a:xfrm>
            <a:off x="3464347" y="3368843"/>
            <a:ext cx="2039917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Texture Value</a:t>
            </a:r>
            <a:r>
              <a:rPr lang="ja-JP" altLang="en-US" dirty="0" smtClean="0">
                <a:solidFill>
                  <a:schemeClr val="accent3"/>
                </a:solidFill>
              </a:rPr>
              <a:t>」は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en-US" altLang="ja-JP" dirty="0" smtClean="0">
                <a:solidFill>
                  <a:schemeClr val="accent3"/>
                </a:solidFill>
              </a:rPr>
              <a:t>30% </a:t>
            </a:r>
            <a:r>
              <a:rPr lang="ja-JP" altLang="en-US" dirty="0" smtClean="0">
                <a:solidFill>
                  <a:schemeClr val="accent3"/>
                </a:solidFill>
              </a:rPr>
              <a:t>にする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レンダリング結果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24</a:t>
            </a:fld>
            <a:endParaRPr lang="en-US" altLang="ja-JP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テキスト ボックス 6"/>
          <p:cNvSpPr txBox="1"/>
          <p:nvPr/>
        </p:nvSpPr>
        <p:spPr>
          <a:xfrm>
            <a:off x="3683940" y="1547467"/>
            <a:ext cx="1452642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kumimoji="1" lang="ja-JP" altLang="en-US" dirty="0" smtClean="0">
                <a:solidFill>
                  <a:schemeClr val="accent3"/>
                </a:solidFill>
              </a:rPr>
              <a:t>「</a:t>
            </a:r>
            <a:r>
              <a:rPr kumimoji="1" lang="en-US" altLang="ja-JP" dirty="0" smtClean="0">
                <a:solidFill>
                  <a:schemeClr val="accent3"/>
                </a:solidFill>
              </a:rPr>
              <a:t>F9</a:t>
            </a:r>
            <a:r>
              <a:rPr kumimoji="1" lang="ja-JP" altLang="en-US" dirty="0" smtClean="0">
                <a:solidFill>
                  <a:schemeClr val="accent3"/>
                </a:solidFill>
              </a:rPr>
              <a:t>」</a:t>
            </a:r>
            <a:r>
              <a:rPr lang="ja-JP" altLang="en-US" dirty="0" smtClean="0">
                <a:solidFill>
                  <a:schemeClr val="accent3"/>
                </a:solidFill>
              </a:rPr>
              <a:t>をタイプ</a:t>
            </a:r>
            <a:endParaRPr kumimoji="1" lang="ja-JP" altLang="en-US" dirty="0">
              <a:solidFill>
                <a:schemeClr val="accent3"/>
              </a:solidFill>
            </a:endParaRPr>
          </a:p>
        </p:txBody>
      </p:sp>
      <p:cxnSp>
        <p:nvCxnSpPr>
          <p:cNvPr id="8" name="直線矢印コネクタ 7"/>
          <p:cNvCxnSpPr/>
          <p:nvPr/>
        </p:nvCxnSpPr>
        <p:spPr>
          <a:xfrm rot="16200000" flipH="1">
            <a:off x="4954244" y="3846290"/>
            <a:ext cx="300514" cy="28463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/>
          <p:cNvSpPr txBox="1"/>
          <p:nvPr/>
        </p:nvSpPr>
        <p:spPr>
          <a:xfrm>
            <a:off x="5214733" y="4106779"/>
            <a:ext cx="1874231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凹凸があるように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見える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オブジェクトを保存する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25</a:t>
            </a:fld>
            <a:endParaRPr lang="en-US" altLang="ja-JP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rot="16200000" flipV="1">
            <a:off x="1240563" y="1525855"/>
            <a:ext cx="607278" cy="393632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2275197" y="3692008"/>
            <a:ext cx="3095719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「ファイル」の「保存」から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「全オブジェクトを保存」を選ぶ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0" name="直線矢印コネクタ 9"/>
          <p:cNvCxnSpPr/>
          <p:nvPr/>
        </p:nvCxnSpPr>
        <p:spPr>
          <a:xfrm rot="16200000" flipV="1">
            <a:off x="2088575" y="2212932"/>
            <a:ext cx="863194" cy="489949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/>
          <p:cNvSpPr txBox="1"/>
          <p:nvPr/>
        </p:nvSpPr>
        <p:spPr>
          <a:xfrm>
            <a:off x="3529375" y="1574808"/>
            <a:ext cx="4772460" cy="646331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r"/>
            <a:r>
              <a:rPr lang="ja-JP" altLang="en-US" dirty="0" smtClean="0">
                <a:solidFill>
                  <a:schemeClr val="accent3"/>
                </a:solidFill>
              </a:rPr>
              <a:t>「色・質感」の情報はオブジェクトが保持している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pPr algn="r"/>
            <a:r>
              <a:rPr lang="ja-JP" altLang="en-US" dirty="0" smtClean="0">
                <a:solidFill>
                  <a:schemeClr val="accent3"/>
                </a:solidFill>
              </a:rPr>
              <a:t>（シーンには保存されない）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  <p:cxnSp>
        <p:nvCxnSpPr>
          <p:cNvPr id="13" name="直線矢印コネクタ 12"/>
          <p:cNvCxnSpPr/>
          <p:nvPr/>
        </p:nvCxnSpPr>
        <p:spPr>
          <a:xfrm rot="16200000" flipV="1">
            <a:off x="6728015" y="2555718"/>
            <a:ext cx="667570" cy="2"/>
          </a:xfrm>
          <a:prstGeom prst="straightConnector1">
            <a:avLst/>
          </a:prstGeom>
          <a:ln w="50800" cap="sq">
            <a:solidFill>
              <a:schemeClr val="accent3"/>
            </a:solidFill>
            <a:prstDash val="sysDot"/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/>
          <p:cNvSpPr txBox="1"/>
          <p:nvPr/>
        </p:nvSpPr>
        <p:spPr>
          <a:xfrm>
            <a:off x="5547555" y="2889504"/>
            <a:ext cx="2754280" cy="923330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オブジェクトを保存しないと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r>
              <a:rPr lang="ja-JP" altLang="en-US" dirty="0" smtClean="0">
                <a:solidFill>
                  <a:schemeClr val="accent3"/>
                </a:solidFill>
              </a:rPr>
              <a:t>「色</a:t>
            </a:r>
            <a:r>
              <a:rPr lang="ja-JP" altLang="en-US" dirty="0" smtClean="0">
                <a:solidFill>
                  <a:schemeClr val="accent3"/>
                </a:solidFill>
              </a:rPr>
              <a:t>・質感</a:t>
            </a:r>
            <a:r>
              <a:rPr lang="ja-JP" altLang="en-US" dirty="0" smtClean="0">
                <a:solidFill>
                  <a:schemeClr val="accent3"/>
                </a:solidFill>
              </a:rPr>
              <a:t>編集」の結果が</a:t>
            </a:r>
            <a:endParaRPr lang="en-US" altLang="ja-JP" dirty="0" smtClean="0">
              <a:solidFill>
                <a:schemeClr val="accent3"/>
              </a:solidFill>
            </a:endParaRPr>
          </a:p>
          <a:p>
            <a:pPr algn="ctr"/>
            <a:r>
              <a:rPr lang="ja-JP" altLang="en-US" dirty="0" smtClean="0">
                <a:solidFill>
                  <a:schemeClr val="accent3"/>
                </a:solidFill>
              </a:rPr>
              <a:t>保存されない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問題なければファイル</a:t>
            </a:r>
            <a:r>
              <a:rPr lang="ja-JP" altLang="en-US" dirty="0" smtClean="0"/>
              <a:t>を</a:t>
            </a:r>
            <a:r>
              <a:rPr lang="ja-JP" altLang="en-US" dirty="0" smtClean="0"/>
              <a:t>上書きする</a:t>
            </a:r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ja-JP" smtClean="0"/>
              <a:t>メディアデザイン演習</a:t>
            </a:r>
            <a:endParaRPr lang="en-US" altLang="ja-JP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0A245-9887-4288-A9BE-B8A98211D943}" type="slidenum">
              <a:rPr lang="en-US" altLang="ja-JP" smtClean="0"/>
              <a:pPr/>
              <a:t>26</a:t>
            </a:fld>
            <a:endParaRPr lang="en-US" altLang="ja-JP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5323" y="1196975"/>
            <a:ext cx="7393354" cy="5256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直線矢印コネクタ 6"/>
          <p:cNvCxnSpPr/>
          <p:nvPr/>
        </p:nvCxnSpPr>
        <p:spPr>
          <a:xfrm flipV="1">
            <a:off x="4154907" y="2253020"/>
            <a:ext cx="443850" cy="325311"/>
          </a:xfrm>
          <a:prstGeom prst="straightConnector1">
            <a:avLst/>
          </a:prstGeom>
          <a:ln w="50800" cap="sq">
            <a:solidFill>
              <a:schemeClr val="accent3"/>
            </a:solidFill>
            <a:headEnd type="triangle" w="med" len="med"/>
            <a:tailEnd type="none" w="med" len="med"/>
          </a:ln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/>
          <p:cNvSpPr txBox="1"/>
          <p:nvPr/>
        </p:nvSpPr>
        <p:spPr>
          <a:xfrm>
            <a:off x="4598757" y="2068354"/>
            <a:ext cx="1702389" cy="369332"/>
          </a:xfrm>
          <a:prstGeom prst="rect">
            <a:avLst/>
          </a:prstGeom>
          <a:noFill/>
          <a:effectLst>
            <a:outerShdw blurRad="38100" dist="38100" dir="1800000" algn="tl" rotWithShape="0">
              <a:prstClr val="black">
                <a:alpha val="6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ja-JP" altLang="en-US" dirty="0" smtClean="0">
                <a:solidFill>
                  <a:schemeClr val="accent3"/>
                </a:solidFill>
              </a:rPr>
              <a:t>「</a:t>
            </a:r>
            <a:r>
              <a:rPr lang="en-US" altLang="ja-JP" dirty="0" smtClean="0">
                <a:solidFill>
                  <a:schemeClr val="accent3"/>
                </a:solidFill>
              </a:rPr>
              <a:t>Yes</a:t>
            </a:r>
            <a:r>
              <a:rPr lang="ja-JP" altLang="en-US" dirty="0" smtClean="0">
                <a:solidFill>
                  <a:schemeClr val="accent3"/>
                </a:solidFill>
              </a:rPr>
              <a:t>」を</a:t>
            </a:r>
            <a:r>
              <a:rPr lang="ja-JP" altLang="en-US" dirty="0" smtClean="0">
                <a:solidFill>
                  <a:schemeClr val="accent3"/>
                </a:solidFill>
              </a:rPr>
              <a:t>クリック</a:t>
            </a:r>
            <a:endParaRPr lang="en-US" altLang="ja-JP" dirty="0" smtClean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標準デザイン">
  <a:themeElements>
    <a:clrScheme name="mde">
      <a:dk1>
        <a:srgbClr val="393939"/>
      </a:dk1>
      <a:lt1>
        <a:srgbClr val="FFFFFF"/>
      </a:lt1>
      <a:dk2>
        <a:srgbClr val="5F5F5F"/>
      </a:dk2>
      <a:lt2>
        <a:srgbClr val="FFCC00"/>
      </a:lt2>
      <a:accent1>
        <a:srgbClr val="4D4D4D"/>
      </a:accent1>
      <a:accent2>
        <a:srgbClr val="FF3300"/>
      </a:accent2>
      <a:accent3>
        <a:srgbClr val="EE8D0C"/>
      </a:accent3>
      <a:accent4>
        <a:srgbClr val="DADADA"/>
      </a:accent4>
      <a:accent5>
        <a:srgbClr val="B2B2B2"/>
      </a:accent5>
      <a:accent6>
        <a:srgbClr val="E72D00"/>
      </a:accent6>
      <a:hlink>
        <a:srgbClr val="FF6600"/>
      </a:hlink>
      <a:folHlink>
        <a:srgbClr val="D45600"/>
      </a:folHlink>
    </a:clrScheme>
    <a:fontScheme name="標準デザイ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3">
        <a:dk1>
          <a:srgbClr val="0033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14">
        <a:dk1>
          <a:srgbClr val="003300"/>
        </a:dk1>
        <a:lt1>
          <a:srgbClr val="FFFFFF"/>
        </a:lt1>
        <a:dk2>
          <a:srgbClr val="0033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2A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15">
        <a:dk1>
          <a:srgbClr val="1C1C1C"/>
        </a:dk1>
        <a:lt1>
          <a:srgbClr val="FFCC00"/>
        </a:lt1>
        <a:dk2>
          <a:srgbClr val="4D4D4D"/>
        </a:dk2>
        <a:lt2>
          <a:srgbClr val="FFFFFF"/>
        </a:lt2>
        <a:accent1>
          <a:srgbClr val="777777"/>
        </a:accent1>
        <a:accent2>
          <a:srgbClr val="FF3300"/>
        </a:accent2>
        <a:accent3>
          <a:srgbClr val="B2B2B2"/>
        </a:accent3>
        <a:accent4>
          <a:srgbClr val="DAAE00"/>
        </a:accent4>
        <a:accent5>
          <a:srgbClr val="BDBDBD"/>
        </a:accent5>
        <a:accent6>
          <a:srgbClr val="E72D00"/>
        </a:accent6>
        <a:hlink>
          <a:srgbClr val="FF6600"/>
        </a:hlink>
        <a:folHlink>
          <a:srgbClr val="D456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6">
        <a:dk1>
          <a:srgbClr val="1C1C1C"/>
        </a:dk1>
        <a:lt1>
          <a:srgbClr val="FFCC00"/>
        </a:lt1>
        <a:dk2>
          <a:srgbClr val="4D4D4D"/>
        </a:dk2>
        <a:lt2>
          <a:srgbClr val="FFFFFF"/>
        </a:lt2>
        <a:accent1>
          <a:srgbClr val="4D4D4D"/>
        </a:accent1>
        <a:accent2>
          <a:srgbClr val="FF3300"/>
        </a:accent2>
        <a:accent3>
          <a:srgbClr val="B2B2B2"/>
        </a:accent3>
        <a:accent4>
          <a:srgbClr val="DAAE00"/>
        </a:accent4>
        <a:accent5>
          <a:srgbClr val="B2B2B2"/>
        </a:accent5>
        <a:accent6>
          <a:srgbClr val="E72D00"/>
        </a:accent6>
        <a:hlink>
          <a:srgbClr val="FF6600"/>
        </a:hlink>
        <a:folHlink>
          <a:srgbClr val="D45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3332</TotalTime>
  <Words>682</Words>
  <Application>Microsoft Office PowerPoint</Application>
  <PresentationFormat>画面に合わせる (4:3)</PresentationFormat>
  <Paragraphs>162</Paragraphs>
  <Slides>26</Slides>
  <Notes>2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26</vt:i4>
      </vt:variant>
    </vt:vector>
  </HeadingPairs>
  <TitlesOfParts>
    <vt:vector size="27" baseType="lpstr">
      <vt:lpstr>標準デザイン</vt:lpstr>
      <vt:lpstr>テクスチャを貼る</vt:lpstr>
      <vt:lpstr>「レイアウト」を起動する</vt:lpstr>
      <vt:lpstr>オブジェクトを配置する</vt:lpstr>
      <vt:lpstr>オブジェクト (LWO) ファイルを選択する</vt:lpstr>
      <vt:lpstr>オブジェクトがシーンに配置される</vt:lpstr>
      <vt:lpstr>テクスチャソリッド表示に切り替える</vt:lpstr>
      <vt:lpstr>「ライト」の「回転」を「リセット」する</vt:lpstr>
      <vt:lpstr>ビューを「カメラ」に切り替える</vt:lpstr>
      <vt:lpstr>「色・質感編集」ウィンドウを開く</vt:lpstr>
      <vt:lpstr>「円柱状」に「画像」をマッピングする</vt:lpstr>
      <vt:lpstr>適当な画像を選択する</vt:lpstr>
      <vt:lpstr>「テクスチャ軸」や「サイズ」を設定する</vt:lpstr>
      <vt:lpstr>マッピングされたテクスチャのプレビュー</vt:lpstr>
      <vt:lpstr>レンダリング結果（適正サンプリング有効）</vt:lpstr>
      <vt:lpstr>「Body」の「色・質感編集」</vt:lpstr>
      <vt:lpstr>「プロシージャル」テクスチャの設定</vt:lpstr>
      <vt:lpstr>「反射光」と「光沢」の設定</vt:lpstr>
      <vt:lpstr>レンダリング結果</vt:lpstr>
      <vt:lpstr>「反射光」にもテクスチャを貼る</vt:lpstr>
      <vt:lpstr>テクスチャは「色」のものと同じにする</vt:lpstr>
      <vt:lpstr>レンダリング結果</vt:lpstr>
      <vt:lpstr>「バンプマッピング」を行う</vt:lpstr>
      <vt:lpstr>テクスチャは「色」のものと同じにする</vt:lpstr>
      <vt:lpstr>レンダリング結果</vt:lpstr>
      <vt:lpstr>オブジェクトを保存する</vt:lpstr>
      <vt:lpstr>問題なければファイルを上書きする</vt:lpstr>
    </vt:vector>
  </TitlesOfParts>
  <Company>和歌山大学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モデリング</dc:title>
  <dc:creator>床井浩平</dc:creator>
  <cp:lastModifiedBy>media</cp:lastModifiedBy>
  <cp:revision>656</cp:revision>
  <dcterms:created xsi:type="dcterms:W3CDTF">2003-10-06T09:37:19Z</dcterms:created>
  <dcterms:modified xsi:type="dcterms:W3CDTF">2010-09-24T09:21:18Z</dcterms:modified>
</cp:coreProperties>
</file>