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72" r:id="rId2"/>
    <p:sldId id="373" r:id="rId3"/>
    <p:sldId id="374" r:id="rId4"/>
    <p:sldId id="375" r:id="rId5"/>
    <p:sldId id="382" r:id="rId6"/>
    <p:sldId id="383" r:id="rId7"/>
    <p:sldId id="376" r:id="rId8"/>
    <p:sldId id="377" r:id="rId9"/>
    <p:sldId id="378" r:id="rId10"/>
    <p:sldId id="379" r:id="rId11"/>
    <p:sldId id="380" r:id="rId12"/>
    <p:sldId id="381" r:id="rId13"/>
  </p:sldIdLst>
  <p:sldSz cx="9144000" cy="6858000" type="screen4x3"/>
  <p:notesSz cx="7099300" cy="102346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1" autoAdjust="0"/>
    <p:restoredTop sz="86400" autoAdjust="0"/>
  </p:normalViewPr>
  <p:slideViewPr>
    <p:cSldViewPr>
      <p:cViewPr varScale="1">
        <p:scale>
          <a:sx n="111" d="100"/>
          <a:sy n="111" d="100"/>
        </p:scale>
        <p:origin x="-153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02AFEF7D-0F5B-46FE-955A-E9DFAFCB90C1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A509356-DC20-4289-9B8A-92ECC85530A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5E032C-4CEE-4FFE-8AD2-B18CFD5B7731}" type="slidenum">
              <a:rPr lang="en-US" altLang="ja-JP"/>
              <a:pPr/>
              <a:t>1</a:t>
            </a:fld>
            <a:endParaRPr lang="en-US" altLang="ja-JP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356-DC20-4289-9B8A-92ECC85530AE}" type="slidenum">
              <a:rPr lang="en-US" altLang="ja-JP" smtClean="0"/>
              <a:pPr/>
              <a:t>2</a:t>
            </a:fld>
            <a:endParaRPr lang="en-US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3A431-F0A2-4498-9B99-4E316DD858D8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901A7-30CC-4244-AC1D-4432D3BFFCB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85F60D-2276-432A-93AB-23E94F04B369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0A245-9887-4288-A9BE-B8A98211D943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BEDCD0-E185-4EC4-AA40-082972A8A140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CAC4D-28B7-4772-B0F9-0A7907DC5E0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9A962F-ACFD-4695-9304-106CB12203C2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C234A-A3A4-44F6-A9E2-108939E62A7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30D961-CD92-47CD-8898-7EFAC029528E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7E917-639C-483B-BB32-1C5372995AE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3CAC3F-40B7-4528-B482-CE15BB4749F6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F32019-5BB1-42DC-BF77-A4FE45D4194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F6821D-A4AB-44FC-830E-A1899477DDC7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ED885-00FC-4496-9747-38E4A6CB360F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0BD9A7-EDB6-4CAE-B7C1-E16333911A59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2095B-1B3A-4C44-B884-3F0FC938F142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82FABC-B5B1-4313-9016-AFE01A263470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404A78-9F6E-4CF8-B217-7BE16E509444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C52B8F-3663-4897-88A7-A614EF028406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CC968-20D1-4E97-A7BC-79708718D6C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92838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92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4A9E36-8EA1-4C07-9DC4-76E232F66690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2D0640-34DB-4649-B51C-865C7FE249D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8229600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975"/>
            <a:ext cx="8229600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D3BBCD6A-E7DD-44D8-A45D-D5A2D3D8CA2E}" type="datetime1">
              <a:rPr lang="ja-JP" altLang="en-US"/>
              <a:pPr/>
              <a:t>2010/9/5</a:t>
            </a:fld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246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fld id="{E72133AB-CA0D-4CCD-8A69-49BCD064CB69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 smtClean="0"/>
              <a:t>LightWave</a:t>
            </a:r>
            <a:r>
              <a:rPr lang="en-US" altLang="ja-JP" dirty="0" smtClean="0"/>
              <a:t> 3D v9.6</a:t>
            </a:r>
            <a:endParaRPr lang="ja-JP" altLang="en-US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/>
              <a:t>メディアデザイン演習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よく使われる統合 </a:t>
            </a:r>
            <a:r>
              <a:rPr lang="en-US" altLang="ja-JP" dirty="0" smtClean="0"/>
              <a:t>3D CG </a:t>
            </a:r>
            <a:r>
              <a:rPr lang="ja-JP" altLang="en-US" dirty="0" smtClean="0"/>
              <a:t>ソフト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kumimoji="1" lang="en-US" altLang="ja-JP" dirty="0" smtClean="0"/>
              <a:t>Autodesk Maya</a:t>
            </a:r>
          </a:p>
          <a:p>
            <a:r>
              <a:rPr lang="en-US" altLang="ja-JP" dirty="0" smtClean="0"/>
              <a:t>Autodesk 3ds Max</a:t>
            </a:r>
          </a:p>
          <a:p>
            <a:r>
              <a:rPr kumimoji="1" lang="en-US" altLang="ja-JP" dirty="0" smtClean="0"/>
              <a:t>Autodesk Softimage</a:t>
            </a:r>
          </a:p>
          <a:p>
            <a:pPr lvl="1"/>
            <a:r>
              <a:rPr lang="ja-JP" altLang="en-US" dirty="0" smtClean="0"/>
              <a:t>業界標準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もとは</a:t>
            </a:r>
            <a:r>
              <a:rPr kumimoji="1" lang="ja-JP" altLang="en-US" dirty="0" smtClean="0"/>
              <a:t>別の会社の製品</a:t>
            </a:r>
            <a:endParaRPr kumimoji="1" lang="en-US" altLang="ja-JP" dirty="0" smtClean="0"/>
          </a:p>
          <a:p>
            <a:r>
              <a:rPr kumimoji="1" lang="en-US" altLang="ja-JP" dirty="0" err="1" smtClean="0"/>
              <a:t>LightWave</a:t>
            </a:r>
            <a:r>
              <a:rPr kumimoji="1" lang="en-US" altLang="ja-JP" dirty="0" smtClean="0"/>
              <a:t> 3D</a:t>
            </a:r>
          </a:p>
          <a:p>
            <a:pPr lvl="1"/>
            <a:r>
              <a:rPr lang="ja-JP" altLang="en-US" dirty="0" smtClean="0"/>
              <a:t>この演習で使用</a:t>
            </a:r>
            <a:endParaRPr lang="en-US" altLang="ja-JP" dirty="0" smtClean="0"/>
          </a:p>
          <a:p>
            <a:r>
              <a:rPr kumimoji="1" lang="en-US" altLang="ja-JP" dirty="0" smtClean="0"/>
              <a:t>Shade</a:t>
            </a:r>
          </a:p>
          <a:p>
            <a:pPr lvl="1"/>
            <a:r>
              <a:rPr lang="ja-JP" altLang="en-US" dirty="0" smtClean="0"/>
              <a:t>国産，息が長い</a:t>
            </a:r>
            <a:endParaRPr lang="en-US" altLang="ja-JP" dirty="0" smtClean="0"/>
          </a:p>
          <a:p>
            <a:r>
              <a:rPr kumimoji="1" lang="en-US" altLang="ja-JP" dirty="0" smtClean="0"/>
              <a:t>CINEMA 4D</a:t>
            </a:r>
          </a:p>
          <a:p>
            <a:pPr lvl="1"/>
            <a:r>
              <a:rPr lang="ja-JP" altLang="en-US" dirty="0" smtClean="0"/>
              <a:t>注目株・建築パース等も</a:t>
            </a:r>
            <a:endParaRPr kumimoji="1" lang="ja-JP" altLang="en-US" dirty="0"/>
          </a:p>
        </p:txBody>
      </p:sp>
      <p:sp>
        <p:nvSpPr>
          <p:cNvPr id="10" name="コンテンツ プレースホルダ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 smtClean="0"/>
              <a:t>Strata 3D</a:t>
            </a:r>
          </a:p>
          <a:p>
            <a:pPr lvl="1"/>
            <a:r>
              <a:rPr lang="ja-JP" altLang="en-US" dirty="0" smtClean="0"/>
              <a:t>歴史が長く操作</a:t>
            </a:r>
            <a:r>
              <a:rPr lang="ja-JP" altLang="en-US" dirty="0" smtClean="0"/>
              <a:t>が簡単</a:t>
            </a:r>
            <a:endParaRPr lang="en-US" altLang="ja-JP" dirty="0" smtClean="0"/>
          </a:p>
          <a:p>
            <a:r>
              <a:rPr lang="en-US" altLang="ja-JP" dirty="0" err="1" smtClean="0"/>
              <a:t>Carrara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安くて高機能</a:t>
            </a:r>
            <a:endParaRPr lang="en-US" altLang="ja-JP" dirty="0" smtClean="0"/>
          </a:p>
          <a:p>
            <a:r>
              <a:rPr lang="en-US" altLang="ja-JP" dirty="0" err="1" smtClean="0"/>
              <a:t>modo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初期の </a:t>
            </a:r>
            <a:r>
              <a:rPr lang="en-US" altLang="ja-JP" dirty="0" err="1" smtClean="0"/>
              <a:t>LightWave</a:t>
            </a:r>
            <a:r>
              <a:rPr lang="en-US" altLang="ja-JP" dirty="0" smtClean="0"/>
              <a:t> </a:t>
            </a:r>
            <a:r>
              <a:rPr lang="ja-JP" altLang="en-US" dirty="0" smtClean="0"/>
              <a:t>の開発者が作った</a:t>
            </a:r>
            <a:endParaRPr lang="en-US" altLang="ja-JP" dirty="0" smtClean="0"/>
          </a:p>
          <a:p>
            <a:r>
              <a:rPr lang="en-US" altLang="ja-JP" dirty="0" smtClean="0"/>
              <a:t>Houdini</a:t>
            </a:r>
          </a:p>
          <a:p>
            <a:pPr lvl="1"/>
            <a:r>
              <a:rPr lang="ja-JP" altLang="en-US" dirty="0" smtClean="0"/>
              <a:t>パーティクルが強力</a:t>
            </a:r>
            <a:endParaRPr lang="en-US" altLang="ja-JP" dirty="0" smtClean="0"/>
          </a:p>
          <a:p>
            <a:r>
              <a:rPr lang="en-US" altLang="ja-JP" dirty="0" smtClean="0"/>
              <a:t>Blender</a:t>
            </a:r>
          </a:p>
          <a:p>
            <a:pPr lvl="1"/>
            <a:r>
              <a:rPr lang="ja-JP" altLang="en-US" dirty="0" smtClean="0"/>
              <a:t>オープンソース</a:t>
            </a:r>
            <a:endParaRPr lang="en-US" altLang="ja-JP" dirty="0" smtClean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 err="1" smtClean="0"/>
              <a:t>メディアデザイン演習</a:t>
            </a:r>
            <a:endParaRPr lang="en-US" altLang="ja-JP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</a:t>
            </a:fld>
            <a:endParaRPr lang="en-US" altLang="ja-JP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LightWave</a:t>
            </a:r>
            <a:r>
              <a:rPr kumimoji="1" lang="en-US" altLang="ja-JP" dirty="0" smtClean="0"/>
              <a:t> 3D</a:t>
            </a:r>
            <a:endParaRPr kumimoji="1" lang="ja-JP" altLang="en-US" dirty="0"/>
          </a:p>
        </p:txBody>
      </p:sp>
      <p:sp>
        <p:nvSpPr>
          <p:cNvPr id="8" name="コンテンツ プレースホル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プロダクションユース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実際に</a:t>
            </a:r>
            <a:r>
              <a:rPr lang="en-US" altLang="ja-JP" dirty="0" smtClean="0"/>
              <a:t>CG</a:t>
            </a:r>
            <a:r>
              <a:rPr lang="ja-JP" altLang="en-US" dirty="0" smtClean="0"/>
              <a:t>プロダクションやゲームメーカーで使われている</a:t>
            </a:r>
            <a:endParaRPr lang="en-US" altLang="ja-JP" dirty="0" smtClean="0"/>
          </a:p>
          <a:p>
            <a:r>
              <a:rPr lang="ja-JP" altLang="en-US" dirty="0" smtClean="0"/>
              <a:t>モデラーの動作が軽い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ポリゴンモデリングでいろいろできる</a:t>
            </a:r>
            <a:endParaRPr lang="en-US" altLang="ja-JP" dirty="0" smtClean="0"/>
          </a:p>
          <a:p>
            <a:r>
              <a:rPr lang="ja-JP" altLang="en-US" dirty="0" smtClean="0"/>
              <a:t>「モデラー」と「レイアウト」の二つからなる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モデラーの軽さに貢献している</a:t>
            </a:r>
            <a:endParaRPr lang="en-US" altLang="ja-JP" dirty="0" smtClean="0"/>
          </a:p>
          <a:p>
            <a:r>
              <a:rPr kumimoji="1" lang="ja-JP" altLang="en-US" dirty="0" smtClean="0"/>
              <a:t>結構安い</a:t>
            </a:r>
            <a:endParaRPr kumimoji="1" lang="en-US" altLang="ja-JP" dirty="0" smtClean="0"/>
          </a:p>
          <a:p>
            <a:pPr lvl="1"/>
            <a:r>
              <a:rPr kumimoji="1" lang="ja-JP" altLang="en-US" dirty="0" smtClean="0"/>
              <a:t>個人ユーザも多い</a:t>
            </a:r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FC234A-A3A4-44F6-A9E2-108939E62A7A}" type="slidenum">
              <a:rPr lang="en-US" altLang="ja-JP" smtClean="0"/>
              <a:pPr/>
              <a:t>3</a:t>
            </a:fld>
            <a:endParaRPr lang="en-US" altLang="ja-JP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「モデラー」と「レイアウト」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モデラー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形（オブジェクト）のデータを作る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面の情報を指定する</a:t>
            </a:r>
            <a:endParaRPr kumimoji="1" lang="en-US" altLang="ja-JP" dirty="0" smtClean="0"/>
          </a:p>
          <a:p>
            <a:r>
              <a:rPr lang="ja-JP" altLang="en-US" dirty="0" smtClean="0"/>
              <a:t>レイアウト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モデラーで作成したオブジェクトを配置する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カメラや光源などの設定を行う</a:t>
            </a:r>
            <a:endParaRPr lang="en-US" altLang="ja-JP" dirty="0" smtClean="0"/>
          </a:p>
          <a:p>
            <a:pPr lvl="1"/>
            <a:r>
              <a:rPr kumimoji="1" lang="ja-JP" altLang="en-US" dirty="0" smtClean="0"/>
              <a:t>アニメーション</a:t>
            </a:r>
            <a:r>
              <a:rPr lang="ja-JP" altLang="en-US" dirty="0" smtClean="0"/>
              <a:t>の</a:t>
            </a:r>
            <a:r>
              <a:rPr kumimoji="1" lang="ja-JP" altLang="en-US" dirty="0" smtClean="0"/>
              <a:t>設定を行う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レンダリング（映像生成）する</a:t>
            </a:r>
            <a:endParaRPr kumimoji="1" lang="en-US" altLang="ja-JP" dirty="0" smtClean="0"/>
          </a:p>
          <a:p>
            <a:pPr lvl="1"/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4</a:t>
            </a:fld>
            <a:endParaRPr lang="en-US" altLang="ja-JP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LightWave</a:t>
            </a:r>
            <a:r>
              <a:rPr kumimoji="1" lang="en-US" altLang="ja-JP" dirty="0" smtClean="0"/>
              <a:t> 3D </a:t>
            </a:r>
            <a:r>
              <a:rPr kumimoji="1" lang="ja-JP" altLang="en-US" dirty="0" smtClean="0"/>
              <a:t>の参考図書 </a:t>
            </a:r>
            <a:r>
              <a:rPr kumimoji="1" lang="en-US" altLang="ja-JP" dirty="0" smtClean="0"/>
              <a:t>(1)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LightWave</a:t>
            </a:r>
            <a:r>
              <a:rPr lang="en-US" altLang="ja-JP" dirty="0" smtClean="0"/>
              <a:t> ★ Beginners</a:t>
            </a:r>
          </a:p>
          <a:p>
            <a:pPr lvl="1"/>
            <a:r>
              <a:rPr kumimoji="1" lang="ja-JP" altLang="en-US" dirty="0" smtClean="0"/>
              <a:t>ウサギ王 著</a:t>
            </a:r>
            <a:r>
              <a:rPr lang="en-US" altLang="ja-JP" dirty="0" smtClean="0"/>
              <a:t>, </a:t>
            </a:r>
            <a:r>
              <a:rPr lang="ja-JP" altLang="en-US" dirty="0" smtClean="0"/>
              <a:t>ビー・エヌ・エヌ新社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ISBN 4861004330, \3,990.</a:t>
            </a:r>
          </a:p>
          <a:p>
            <a:r>
              <a:rPr lang="en-US" altLang="ja-JP" dirty="0" err="1" smtClean="0"/>
              <a:t>LightWave</a:t>
            </a:r>
            <a:r>
              <a:rPr lang="en-US" altLang="ja-JP" dirty="0" smtClean="0"/>
              <a:t> 3D Super Graphics</a:t>
            </a:r>
          </a:p>
          <a:p>
            <a:pPr lvl="1"/>
            <a:r>
              <a:rPr lang="ja-JP" altLang="en-US" dirty="0" smtClean="0"/>
              <a:t>若山 温 著</a:t>
            </a:r>
            <a:r>
              <a:rPr lang="en-US" altLang="ja-JP" dirty="0" smtClean="0"/>
              <a:t>, </a:t>
            </a:r>
            <a:r>
              <a:rPr lang="ja-JP" altLang="en-US" dirty="0" smtClean="0"/>
              <a:t>ビー・エヌ・エヌ新社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ISBN 4861003954, \3,990.</a:t>
            </a:r>
          </a:p>
          <a:p>
            <a:r>
              <a:rPr lang="en-US" altLang="ja-JP" dirty="0" err="1" smtClean="0"/>
              <a:t>LightWave</a:t>
            </a:r>
            <a:r>
              <a:rPr lang="en-US" altLang="ja-JP" dirty="0" smtClean="0"/>
              <a:t> Uppers</a:t>
            </a:r>
          </a:p>
          <a:p>
            <a:pPr lvl="1"/>
            <a:r>
              <a:rPr lang="ja-JP" altLang="en-US" dirty="0" smtClean="0"/>
              <a:t>伊勢田 誠治 著</a:t>
            </a:r>
            <a:r>
              <a:rPr lang="en-US" altLang="ja-JP" dirty="0" smtClean="0"/>
              <a:t>, </a:t>
            </a:r>
            <a:r>
              <a:rPr lang="ja-JP" altLang="en-US" dirty="0" smtClean="0"/>
              <a:t>ビー・エヌ・エヌ新社</a:t>
            </a:r>
            <a:endParaRPr lang="en-US" altLang="ja-JP" dirty="0" smtClean="0"/>
          </a:p>
          <a:p>
            <a:pPr lvl="1"/>
            <a:r>
              <a:rPr kumimoji="1" lang="en-US" altLang="ja-JP" dirty="0" smtClean="0"/>
              <a:t>ISBN </a:t>
            </a:r>
            <a:r>
              <a:rPr lang="en-US" altLang="ja-JP" dirty="0" smtClean="0"/>
              <a:t>4861006120, \4,935.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5</a:t>
            </a:fld>
            <a:endParaRPr lang="en-US" altLang="ja-JP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1268761"/>
            <a:ext cx="1895436" cy="2448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 smtClean="0"/>
              <a:t>LightWave</a:t>
            </a:r>
            <a:r>
              <a:rPr kumimoji="1" lang="en-US" altLang="ja-JP" dirty="0" smtClean="0"/>
              <a:t> 3D </a:t>
            </a:r>
            <a:r>
              <a:rPr kumimoji="1" lang="ja-JP" altLang="en-US" dirty="0" smtClean="0"/>
              <a:t>の参考図書 </a:t>
            </a:r>
            <a:r>
              <a:rPr kumimoji="1" lang="en-US" altLang="ja-JP" dirty="0" smtClean="0"/>
              <a:t>(2)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Lightwave3D CG</a:t>
            </a:r>
            <a:r>
              <a:rPr lang="ja-JP" altLang="en-US" dirty="0" smtClean="0"/>
              <a:t>テクニック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春口 京祐 著</a:t>
            </a:r>
            <a:r>
              <a:rPr lang="en-US" altLang="ja-JP" dirty="0" smtClean="0"/>
              <a:t>, </a:t>
            </a:r>
            <a:r>
              <a:rPr lang="ja-JP" altLang="en-US" dirty="0" smtClean="0"/>
              <a:t>工学社</a:t>
            </a:r>
            <a:endParaRPr lang="en-US" altLang="ja-JP" dirty="0" smtClean="0"/>
          </a:p>
          <a:p>
            <a:pPr lvl="1"/>
            <a:r>
              <a:rPr kumimoji="1" lang="en-US" altLang="ja-JP" dirty="0" smtClean="0"/>
              <a:t>ISBN </a:t>
            </a:r>
            <a:r>
              <a:rPr lang="en-US" altLang="ja-JP" dirty="0" smtClean="0"/>
              <a:t>4777515176, \2,415.</a:t>
            </a:r>
          </a:p>
          <a:p>
            <a:r>
              <a:rPr lang="en-US" altLang="ja-JP" dirty="0" smtClean="0"/>
              <a:t>LightWave3D</a:t>
            </a:r>
            <a:r>
              <a:rPr lang="ja-JP" altLang="en-US" dirty="0" smtClean="0"/>
              <a:t>スーパーテクニック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デザインファクトリー</a:t>
            </a:r>
            <a:r>
              <a:rPr lang="en-US" altLang="ja-JP" dirty="0" smtClean="0"/>
              <a:t>, </a:t>
            </a:r>
            <a:r>
              <a:rPr lang="ja-JP" altLang="en-US" dirty="0" smtClean="0"/>
              <a:t>ソーテック社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ISBN 4881665790, \3,990.</a:t>
            </a:r>
          </a:p>
          <a:p>
            <a:endParaRPr lang="en-US" altLang="ja-JP" dirty="0" smtClean="0"/>
          </a:p>
          <a:p>
            <a:r>
              <a:rPr kumimoji="1" lang="ja-JP" altLang="en-US" dirty="0" smtClean="0"/>
              <a:t>株式会社ディストーム（販売代理店）</a:t>
            </a:r>
            <a:endParaRPr kumimoji="1" lang="en-US" altLang="ja-JP" dirty="0" smtClean="0"/>
          </a:p>
          <a:p>
            <a:pPr lvl="1"/>
            <a:r>
              <a:rPr lang="en-US" altLang="ja-JP" dirty="0" smtClean="0"/>
              <a:t>http://www.dstorm.co.jp/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6</a:t>
            </a:fld>
            <a:endParaRPr lang="en-US" altLang="ja-JP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「モデラー」の起動</a:t>
            </a:r>
            <a:endParaRPr kumimoji="1" lang="ja-JP" altLang="en-US" dirty="0"/>
          </a:p>
        </p:txBody>
      </p:sp>
      <p:pic>
        <p:nvPicPr>
          <p:cNvPr id="6" name="コンテンツ プレースホルダ 5" descr="lw00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7858" y="1196975"/>
            <a:ext cx="7008284" cy="5256213"/>
          </a:xfrm>
        </p:spPr>
      </p:pic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7</a:t>
            </a:fld>
            <a:endParaRPr lang="en-US" altLang="ja-JP"/>
          </a:p>
        </p:txBody>
      </p:sp>
      <p:sp>
        <p:nvSpPr>
          <p:cNvPr id="19" name="右矢印 18"/>
          <p:cNvSpPr/>
          <p:nvPr/>
        </p:nvSpPr>
        <p:spPr>
          <a:xfrm>
            <a:off x="4427984" y="3645024"/>
            <a:ext cx="288032" cy="288032"/>
          </a:xfrm>
          <a:prstGeom prst="rightArrow">
            <a:avLst/>
          </a:prstGeom>
          <a:solidFill>
            <a:schemeClr val="tx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矢印コネクタ 22"/>
          <p:cNvCxnSpPr/>
          <p:nvPr/>
        </p:nvCxnSpPr>
        <p:spPr>
          <a:xfrm rot="5400000" flipH="1" flipV="1">
            <a:off x="2195736" y="544522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 rot="16200000" flipV="1">
            <a:off x="4716016" y="249289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 rot="16200000" flipV="1">
            <a:off x="4788024" y="364502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 rot="16200000" flipV="1">
            <a:off x="4932040" y="4437112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「レイアウト」の起動</a:t>
            </a:r>
            <a:endParaRPr kumimoji="1" lang="ja-JP" altLang="en-US" dirty="0"/>
          </a:p>
        </p:txBody>
      </p:sp>
      <p:pic>
        <p:nvPicPr>
          <p:cNvPr id="6" name="コンテンツ プレースホルダ 5" descr="lw0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7858" y="1196975"/>
            <a:ext cx="7008284" cy="5256213"/>
          </a:xfrm>
        </p:spPr>
      </p:pic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8</a:t>
            </a:fld>
            <a:endParaRPr lang="en-US" altLang="ja-JP"/>
          </a:p>
        </p:txBody>
      </p:sp>
      <p:sp>
        <p:nvSpPr>
          <p:cNvPr id="17" name="右矢印 16"/>
          <p:cNvSpPr/>
          <p:nvPr/>
        </p:nvSpPr>
        <p:spPr>
          <a:xfrm>
            <a:off x="4427984" y="3645024"/>
            <a:ext cx="288032" cy="288032"/>
          </a:xfrm>
          <a:prstGeom prst="rightArrow">
            <a:avLst/>
          </a:prstGeom>
          <a:solidFill>
            <a:schemeClr val="tx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/>
          <p:cNvCxnSpPr/>
          <p:nvPr/>
        </p:nvCxnSpPr>
        <p:spPr>
          <a:xfrm rot="5400000" flipH="1" flipV="1">
            <a:off x="2195736" y="544522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/>
          <p:nvPr/>
        </p:nvCxnSpPr>
        <p:spPr>
          <a:xfrm rot="16200000" flipV="1">
            <a:off x="4716016" y="249289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/>
          <p:nvPr/>
        </p:nvCxnSpPr>
        <p:spPr>
          <a:xfrm rot="16200000" flipV="1">
            <a:off x="4788024" y="364502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 rot="16200000" flipV="1">
            <a:off x="4932040" y="414908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マニュアルを見る </a:t>
            </a:r>
            <a:r>
              <a:rPr kumimoji="1" lang="en-US" altLang="ja-JP" dirty="0" smtClean="0"/>
              <a:t>(1)</a:t>
            </a:r>
            <a:endParaRPr kumimoji="1" lang="ja-JP" altLang="en-US" dirty="0"/>
          </a:p>
        </p:txBody>
      </p:sp>
      <p:pic>
        <p:nvPicPr>
          <p:cNvPr id="6" name="コンテンツ プレースホルダ 5" descr="lw0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7858" y="1196975"/>
            <a:ext cx="7008284" cy="5256213"/>
          </a:xfrm>
        </p:spPr>
      </p:pic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9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rot="5400000" flipH="1" flipV="1">
            <a:off x="4211960" y="184482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/>
          <p:cNvCxnSpPr/>
          <p:nvPr/>
        </p:nvCxnSpPr>
        <p:spPr>
          <a:xfrm rot="16200000" flipV="1">
            <a:off x="3923928" y="4653137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3995936" y="2348880"/>
            <a:ext cx="383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 smtClean="0"/>
              <a:t>「コンピュータ」から「</a:t>
            </a:r>
            <a:r>
              <a:rPr kumimoji="1" lang="en-US" altLang="ja-JP" dirty="0" smtClean="0"/>
              <a:t>C:</a:t>
            </a:r>
            <a:r>
              <a:rPr lang="ja-JP" altLang="en-US" dirty="0" smtClean="0"/>
              <a:t> ドライブ」を開く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マニュアル</a:t>
            </a:r>
            <a:r>
              <a:rPr lang="ja-JP" altLang="en-US" dirty="0" smtClean="0"/>
              <a:t>を見る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(2)</a:t>
            </a:r>
            <a:endParaRPr kumimoji="1" lang="ja-JP" altLang="en-US" dirty="0"/>
          </a:p>
        </p:txBody>
      </p:sp>
      <p:pic>
        <p:nvPicPr>
          <p:cNvPr id="6" name="コンテンツ プレースホルダ 5" descr="lw03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7858" y="1196975"/>
            <a:ext cx="7008284" cy="5256213"/>
          </a:xfrm>
        </p:spPr>
      </p:pic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10</a:t>
            </a:fld>
            <a:endParaRPr lang="en-US" altLang="ja-JP"/>
          </a:p>
        </p:txBody>
      </p:sp>
      <p:cxnSp>
        <p:nvCxnSpPr>
          <p:cNvPr id="8" name="直線矢印コネクタ 7"/>
          <p:cNvCxnSpPr/>
          <p:nvPr/>
        </p:nvCxnSpPr>
        <p:spPr>
          <a:xfrm rot="16200000" flipV="1">
            <a:off x="2195736" y="342900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rot="16200000" flipV="1">
            <a:off x="4355976" y="4149080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4932040" y="3789040"/>
            <a:ext cx="15841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マニュアル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932040" y="4509120"/>
            <a:ext cx="158417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チュートリアル</a:t>
            </a:r>
            <a:endParaRPr kumimoji="1" lang="ja-JP" altLang="en-US" dirty="0"/>
          </a:p>
        </p:txBody>
      </p:sp>
      <p:cxnSp>
        <p:nvCxnSpPr>
          <p:cNvPr id="7" name="直線矢印コネクタ 6"/>
          <p:cNvCxnSpPr/>
          <p:nvPr/>
        </p:nvCxnSpPr>
        <p:spPr>
          <a:xfrm rot="10800000">
            <a:off x="6444208" y="4077072"/>
            <a:ext cx="288032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10800000">
            <a:off x="6444208" y="4797152"/>
            <a:ext cx="288032" cy="158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1115616" y="5661248"/>
            <a:ext cx="1753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「</a:t>
            </a:r>
            <a:r>
              <a:rPr kumimoji="1" lang="en-US" altLang="ja-JP" dirty="0" smtClean="0"/>
              <a:t>LightWave_9</a:t>
            </a:r>
            <a:r>
              <a:rPr lang="ja-JP" altLang="en-US" dirty="0" smtClean="0"/>
              <a:t>」</a:t>
            </a:r>
            <a:endParaRPr kumimoji="1" lang="ja-JP" altLang="en-US" dirty="0"/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3275856" y="6093296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「</a:t>
            </a:r>
            <a:r>
              <a:rPr kumimoji="1" lang="en-US" altLang="ja-JP" dirty="0" err="1" smtClean="0"/>
              <a:t>Online_Docs</a:t>
            </a:r>
            <a:r>
              <a:rPr lang="ja-JP" altLang="en-US" dirty="0" smtClean="0"/>
              <a:t>」</a:t>
            </a:r>
            <a:endParaRPr kumimoji="1" lang="ja-JP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サンプルデータを使う </a:t>
            </a:r>
            <a:r>
              <a:rPr kumimoji="1" lang="en-US" altLang="ja-JP" dirty="0" smtClean="0"/>
              <a:t>(1)</a:t>
            </a:r>
            <a:endParaRPr kumimoji="1" lang="ja-JP" altLang="en-US" dirty="0"/>
          </a:p>
        </p:txBody>
      </p:sp>
      <p:pic>
        <p:nvPicPr>
          <p:cNvPr id="6" name="コンテンツ プレースホルダ 5" descr="lw04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7858" y="1196975"/>
            <a:ext cx="7008284" cy="5256213"/>
          </a:xfrm>
        </p:spPr>
      </p:pic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11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995936" y="2348880"/>
            <a:ext cx="37305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dirty="0" smtClean="0"/>
              <a:t>「コンピュータ」から「</a:t>
            </a:r>
            <a:r>
              <a:rPr kumimoji="1" lang="en-US" altLang="ja-JP" dirty="0" smtClean="0"/>
              <a:t>I:</a:t>
            </a:r>
            <a:r>
              <a:rPr lang="ja-JP" altLang="en-US" dirty="0" smtClean="0"/>
              <a:t> ドライブ」を開く</a:t>
            </a:r>
            <a:endParaRPr lang="en-US" altLang="ja-JP" dirty="0" smtClean="0"/>
          </a:p>
          <a:p>
            <a:pPr algn="ctr"/>
            <a:r>
              <a:rPr lang="ja-JP" altLang="en-US" dirty="0" smtClean="0"/>
              <a:t>または</a:t>
            </a:r>
            <a:endParaRPr lang="en-US" altLang="ja-JP" dirty="0" smtClean="0"/>
          </a:p>
          <a:p>
            <a:pPr algn="ctr"/>
            <a:r>
              <a:rPr kumimoji="1" lang="ja-JP" altLang="en-US" dirty="0" smtClean="0"/>
              <a:t>「</a:t>
            </a:r>
            <a:r>
              <a:rPr kumimoji="1" lang="en-US" altLang="ja-JP" dirty="0" smtClean="0"/>
              <a:t>\\fs-sv\work</a:t>
            </a:r>
            <a:r>
              <a:rPr kumimoji="1" lang="ja-JP" altLang="en-US" dirty="0" smtClean="0"/>
              <a:t>」を検索する</a:t>
            </a:r>
            <a:endParaRPr kumimoji="1" lang="ja-JP" altLang="en-US" dirty="0"/>
          </a:p>
        </p:txBody>
      </p:sp>
      <p:cxnSp>
        <p:nvCxnSpPr>
          <p:cNvPr id="8" name="直線矢印コネクタ 7"/>
          <p:cNvCxnSpPr/>
          <p:nvPr/>
        </p:nvCxnSpPr>
        <p:spPr>
          <a:xfrm rot="5400000" flipH="1" flipV="1">
            <a:off x="4211960" y="184482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rot="16200000" flipV="1">
            <a:off x="5724128" y="5877272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/>
          <p:nvPr/>
        </p:nvCxnSpPr>
        <p:spPr>
          <a:xfrm rot="5400000" flipH="1" flipV="1">
            <a:off x="1835696" y="573325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サンプルデータを使う </a:t>
            </a:r>
            <a:r>
              <a:rPr lang="en-US" altLang="ja-JP" dirty="0" smtClean="0"/>
              <a:t>(2)</a:t>
            </a:r>
            <a:endParaRPr kumimoji="1" lang="ja-JP" altLang="en-US" dirty="0"/>
          </a:p>
        </p:txBody>
      </p:sp>
      <p:pic>
        <p:nvPicPr>
          <p:cNvPr id="6" name="コンテンツ プレースホルダ 5" descr="lw05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67858" y="1196975"/>
            <a:ext cx="7008284" cy="5256213"/>
          </a:xfrm>
        </p:spPr>
      </p:pic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12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115616" y="5661248"/>
            <a:ext cx="162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「</a:t>
            </a:r>
            <a:r>
              <a:rPr kumimoji="1" lang="en-US" altLang="ja-JP" dirty="0" smtClean="0"/>
              <a:t>LightWave9</a:t>
            </a:r>
            <a:r>
              <a:rPr lang="ja-JP" altLang="en-US" dirty="0" smtClean="0"/>
              <a:t>」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275856" y="609329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「</a:t>
            </a:r>
            <a:r>
              <a:rPr kumimoji="1" lang="en-US" altLang="ja-JP" dirty="0" smtClean="0"/>
              <a:t>Contents</a:t>
            </a:r>
            <a:r>
              <a:rPr lang="ja-JP" altLang="en-US" dirty="0" smtClean="0"/>
              <a:t>」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524328" y="3573016"/>
            <a:ext cx="461665" cy="1728192"/>
          </a:xfrm>
          <a:prstGeom prst="rect">
            <a:avLst/>
          </a:prstGeom>
          <a:solidFill>
            <a:schemeClr val="bg1"/>
          </a:solidFill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 smtClean="0"/>
              <a:t>サンプルデータ</a:t>
            </a:r>
            <a:endParaRPr kumimoji="1"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mde">
      <a:dk1>
        <a:srgbClr val="393939"/>
      </a:dk1>
      <a:lt1>
        <a:srgbClr val="FFFFFF"/>
      </a:lt1>
      <a:dk2>
        <a:srgbClr val="5F5F5F"/>
      </a:dk2>
      <a:lt2>
        <a:srgbClr val="FFCC00"/>
      </a:lt2>
      <a:accent1>
        <a:srgbClr val="4D4D4D"/>
      </a:accent1>
      <a:accent2>
        <a:srgbClr val="FF3300"/>
      </a:accent2>
      <a:accent3>
        <a:srgbClr val="EE8D0C"/>
      </a:accent3>
      <a:accent4>
        <a:srgbClr val="DADADA"/>
      </a:accent4>
      <a:accent5>
        <a:srgbClr val="B2B2B2"/>
      </a:accent5>
      <a:accent6>
        <a:srgbClr val="E72D00"/>
      </a:accent6>
      <a:hlink>
        <a:srgbClr val="FF6600"/>
      </a:hlink>
      <a:folHlink>
        <a:srgbClr val="D456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3">
        <a:dk1>
          <a:srgbClr val="0033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4">
        <a:dk1>
          <a:srgbClr val="003300"/>
        </a:dk1>
        <a:lt1>
          <a:srgbClr val="FFFFFF"/>
        </a:lt1>
        <a:dk2>
          <a:srgbClr val="0033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5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777777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DBDBD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6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4D4D4D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2B2B2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1158</TotalTime>
  <Words>383</Words>
  <Application>Microsoft Office PowerPoint</Application>
  <PresentationFormat>画面に合わせる (4:3)</PresentationFormat>
  <Paragraphs>103</Paragraphs>
  <Slides>12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3" baseType="lpstr">
      <vt:lpstr>標準デザイン</vt:lpstr>
      <vt:lpstr>LightWave 3D v9.6</vt:lpstr>
      <vt:lpstr>よく使われる統合 3D CG ソフト</vt:lpstr>
      <vt:lpstr>LightWave 3D</vt:lpstr>
      <vt:lpstr>「モデラー」と「レイアウト」</vt:lpstr>
      <vt:lpstr>LightWave 3D の参考図書 (1)</vt:lpstr>
      <vt:lpstr>LightWave 3D の参考図書 (2)</vt:lpstr>
      <vt:lpstr>「モデラー」の起動</vt:lpstr>
      <vt:lpstr>「レイアウト」の起動</vt:lpstr>
      <vt:lpstr>マニュアルを見る (1)</vt:lpstr>
      <vt:lpstr>マニュアルを見る (2)</vt:lpstr>
      <vt:lpstr>サンプルデータを使う (1)</vt:lpstr>
      <vt:lpstr>サンプルデータを使う (2)</vt:lpstr>
    </vt:vector>
  </TitlesOfParts>
  <Company>和歌山大学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モデリング</dc:title>
  <dc:creator>床井浩平</dc:creator>
  <cp:lastModifiedBy>Kohe Tokoi</cp:lastModifiedBy>
  <cp:revision>154</cp:revision>
  <dcterms:created xsi:type="dcterms:W3CDTF">2003-10-06T09:37:19Z</dcterms:created>
  <dcterms:modified xsi:type="dcterms:W3CDTF">2010-09-05T05:20:05Z</dcterms:modified>
</cp:coreProperties>
</file>